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 rot="5400000">
            <a:off x="-1143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 rot="5400000">
            <a:off x="381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 rot="5400000">
            <a:off x="1905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 rot="5400000">
            <a:off x="3429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 rot="5400000">
            <a:off x="4953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 rot="5400000">
            <a:off x="6477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 rot="5400000">
            <a:off x="8001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1520825"/>
            <a:ext cx="12192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3044825"/>
            <a:ext cx="12192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2000" y="2476500"/>
            <a:ext cx="10668000" cy="952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 i="0" u="none">
                <a:solidFill>
                  <a:srgbClr val="EEF2F6"/>
                </a:solidFill>
                <a:latin typeface="Space Grotesk"/>
              </a:rPr>
              <a:t>Urban Pulse: Smart Mobility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619500"/>
            <a:ext cx="7620000" cy="660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 u="none">
                <a:solidFill>
                  <a:srgbClr val="9FB0C3"/>
                </a:solidFill>
                <a:latin typeface="Space Grotesk"/>
              </a:rPr>
              <a:t>Milestone 2: Data Modeling &amp; DAX in Power BI | Madhuri Gundlakunta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 rot="5400000">
            <a:off x="-1905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 rot="5400000">
            <a:off x="-381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 rot="5400000">
            <a:off x="1143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 rot="5400000">
            <a:off x="2667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 rot="5400000">
            <a:off x="4191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 rot="5400000">
            <a:off x="5715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 rot="5400000">
            <a:off x="7239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1520825"/>
            <a:ext cx="12192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3044825"/>
            <a:ext cx="12192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2000" y="698500"/>
            <a:ext cx="10668000" cy="825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EEF2F6"/>
                </a:solidFill>
                <a:latin typeface="Space Grotesk"/>
              </a:rPr>
              <a:t>Milestone 2: Objectives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2095500"/>
            <a:ext cx="5080000" cy="3619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u="none">
                <a:solidFill>
                  <a:srgbClr val="9FB0C3"/>
                </a:solidFill>
                <a:latin typeface="Space Grotesk"/>
              </a:rPr>
              <a:t>Integrate &amp; structure Urban Pulse datasets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u="none">
                <a:solidFill>
                  <a:srgbClr val="9FB0C3"/>
                </a:solidFill>
                <a:latin typeface="Space Grotesk"/>
              </a:rPr>
              <a:t>Transform and prepare raw data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u="none">
                <a:solidFill>
                  <a:srgbClr val="9FB0C3"/>
                </a:solidFill>
                <a:latin typeface="Space Grotesk"/>
              </a:rPr>
              <a:t>Design fact and dimension tables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u="none">
                <a:solidFill>
                  <a:srgbClr val="9FB0C3"/>
                </a:solidFill>
                <a:latin typeface="Space Grotesk"/>
              </a:rPr>
              <a:t>Build a dedicated Date dimension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u="none">
                <a:solidFill>
                  <a:srgbClr val="9FB0C3"/>
                </a:solidFill>
                <a:latin typeface="Space Grotesk"/>
              </a:rPr>
              <a:t>Establish table relationships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u="none">
                <a:solidFill>
                  <a:srgbClr val="9FB0C3"/>
                </a:solidFill>
                <a:latin typeface="Space Grotesk"/>
              </a:rPr>
              <a:t>Implement DAX measures &amp; calculated columns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u="none">
                <a:solidFill>
                  <a:srgbClr val="9FB0C3"/>
                </a:solidFill>
                <a:latin typeface="Space Grotesk"/>
              </a:rPr>
              <a:t>Build KPI-driven Power BI visuals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u="none">
                <a:solidFill>
                  <a:srgbClr val="9FB0C3"/>
                </a:solidFill>
                <a:latin typeface="Space Grotesk"/>
              </a:rPr>
              <a:t>Prepare model for scalable mobility analysis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0" y="2095500"/>
            <a:ext cx="5080000" cy="3619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 rot="5400000">
            <a:off x="-1143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 rot="5400000">
            <a:off x="381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 rot="5400000">
            <a:off x="1905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 rot="5400000">
            <a:off x="3429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 rot="5400000">
            <a:off x="4953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 rot="5400000">
            <a:off x="6477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 rot="5400000">
            <a:off x="8001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1520825"/>
            <a:ext cx="12192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3044825"/>
            <a:ext cx="12192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095500"/>
            <a:ext cx="3352800" cy="3619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2095500"/>
            <a:ext cx="3352800" cy="3619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7200" y="2095500"/>
            <a:ext cx="3352800" cy="3619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2000" y="698500"/>
            <a:ext cx="10668000" cy="825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EEF2F6"/>
                </a:solidFill>
                <a:latin typeface="Space Grotesk"/>
              </a:rPr>
              <a:t>Urban Pulse Data Ecosystem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1400" y="2476500"/>
            <a:ext cx="2794000" cy="444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u="none">
                <a:solidFill>
                  <a:srgbClr val="EEF2F6"/>
                </a:solidFill>
                <a:latin typeface="Space Grotesk"/>
              </a:rPr>
              <a:t>Fact Tables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1400" y="3048000"/>
            <a:ext cx="2794000" cy="241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9FB0C3"/>
                </a:solidFill>
                <a:latin typeface="Space Grotesk"/>
              </a:rPr>
              <a:t>Urban Mobility: vehicles, traffic, road occupancy, ride-sharing, emissions, energy.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9FB0C3"/>
                </a:solidFill>
                <a:latin typeface="Space Grotesk"/>
              </a:rPr>
              <a:t>Trip Data: individual trip records (miles, purpose, category, start/stop).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9000" y="2476500"/>
            <a:ext cx="2794000" cy="444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u="none">
                <a:solidFill>
                  <a:srgbClr val="EEF2F6"/>
                </a:solidFill>
                <a:latin typeface="Space Grotesk"/>
              </a:rPr>
              <a:t>Dimensions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9000" y="3048000"/>
            <a:ext cx="2794000" cy="241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9FB0C3"/>
                </a:solidFill>
                <a:latin typeface="Space Grotesk"/>
              </a:rPr>
              <a:t>Weather Station: station and geographic reference info.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9FB0C3"/>
                </a:solidFill>
                <a:latin typeface="Space Grotesk"/>
              </a:rPr>
              <a:t>World Cities: city, country and geographic details.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9FB0C3"/>
                </a:solidFill>
                <a:latin typeface="Space Grotesk"/>
              </a:rPr>
              <a:t>World Happiness: happiness, economic and social indicators.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6600" y="2476500"/>
            <a:ext cx="2794000" cy="444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u="none">
                <a:solidFill>
                  <a:srgbClr val="EEF2F6"/>
                </a:solidFill>
                <a:latin typeface="Space Grotesk"/>
              </a:rPr>
              <a:t>Design Principle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6600" y="3048000"/>
            <a:ext cx="2794000" cy="241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9FB0C3"/>
                </a:solidFill>
                <a:latin typeface="Space Grotesk"/>
              </a:rPr>
              <a:t>Five datasets organized by analytical role (fact vs. dimension) into a star schema, not blindly merged into one flat table.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 rot="5400000">
            <a:off x="-1905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 rot="5400000">
            <a:off x="-381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 rot="5400000">
            <a:off x="1143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 rot="5400000">
            <a:off x="2667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 rot="5400000">
            <a:off x="4191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 rot="5400000">
            <a:off x="5715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 rot="5400000">
            <a:off x="7239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1520825"/>
            <a:ext cx="12192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3044825"/>
            <a:ext cx="12192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788" y="1206500"/>
            <a:ext cx="4724400" cy="4572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48400" y="2476500"/>
            <a:ext cx="5181600" cy="825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u="none">
                <a:solidFill>
                  <a:srgbClr val="EEF2F6"/>
                </a:solidFill>
                <a:latin typeface="Space Grotesk"/>
              </a:rPr>
              <a:t>Data Prep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8400" y="3492500"/>
            <a:ext cx="5181600" cy="154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9FB0C3"/>
                </a:solidFill>
                <a:latin typeface="Space Grotesk"/>
              </a:rPr>
              <a:t>Pipeline: Raw Data → Power BI → Power Query.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9FB0C3"/>
                </a:solidFill>
                <a:latin typeface="Space Grotesk"/>
              </a:rPr>
              <a:t>Validated data types; built Mobility_Date from Timestamp &amp; Trip_Start_Date.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9FB0C3"/>
                </a:solidFill>
                <a:latin typeface="Space Grotesk"/>
              </a:rPr>
              <a:t>Created Dim_Date (Year, Month, Quarter, Day).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9FB0C3"/>
                </a:solidFill>
                <a:latin typeface="Space Grotesk"/>
              </a:rPr>
              <a:t>Renamed Fact/Dimension tables; finalized structure for relationships.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 rot="5400000">
            <a:off x="-1143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 rot="5400000">
            <a:off x="381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 rot="5400000">
            <a:off x="1905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 rot="5400000">
            <a:off x="3429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 rot="5400000">
            <a:off x="4953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 rot="5400000">
            <a:off x="6477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 rot="5400000">
            <a:off x="8001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1520825"/>
            <a:ext cx="12192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3044825"/>
            <a:ext cx="12192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2000" y="698500"/>
            <a:ext cx="10668000" cy="825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EEF2F6"/>
                </a:solidFill>
                <a:latin typeface="Space Grotesk"/>
              </a:rPr>
              <a:t>Fact Tables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2159000"/>
            <a:ext cx="5181600" cy="355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9FB0C3"/>
                </a:solidFill>
                <a:latin typeface="Space Grotesk"/>
              </a:rPr>
              <a:t>Fact_Mobility (event-level metrics):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9FB0C3"/>
                </a:solidFill>
                <a:latin typeface="Space Grotesk"/>
              </a:rPr>
              <a:t>Timestamp, Vehicle_Count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9FB0C3"/>
                </a:solidFill>
                <a:latin typeface="Space Grotesk"/>
              </a:rPr>
              <a:t>Traffic_Speed_kmh, Road_Occupancy_%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9FB0C3"/>
                </a:solidFill>
                <a:latin typeface="Space Grotesk"/>
              </a:rPr>
              <a:t>Ride_Sharing_Demand, Emissions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9FB0C3"/>
                </a:solidFill>
                <a:latin typeface="Space Grotesk"/>
              </a:rPr>
              <a:t>Energy, Parking, Accidents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9FB0C3"/>
                </a:solidFill>
                <a:latin typeface="Space Grotesk"/>
              </a:rPr>
              <a:t>Weather/Traffic Conditions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8400" y="2159000"/>
            <a:ext cx="5181600" cy="3556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9FB0C3"/>
                </a:solidFill>
                <a:latin typeface="Space Grotesk"/>
              </a:rPr>
              <a:t>Fact_Trips (trip-level records):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9FB0C3"/>
                </a:solidFill>
                <a:latin typeface="Space Grotesk"/>
              </a:rPr>
              <a:t>Start/End Date, Category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9FB0C3"/>
                </a:solidFill>
                <a:latin typeface="Space Grotesk"/>
              </a:rPr>
              <a:t>Purpose, Miles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endParaRPr sz="1400" b="0" i="0" u="none">
              <a:solidFill>
                <a:srgbClr val="9FB0C3"/>
              </a:solidFill>
              <a:latin typeface="Space Grotesk"/>
            </a:endParaRP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9FB0C3"/>
                </a:solidFill>
                <a:latin typeface="Space Grotesk"/>
              </a:rPr>
              <a:t>Role of Fact Tables: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9FB0C3"/>
                </a:solidFill>
                <a:latin typeface="Space Grotesk"/>
              </a:rPr>
              <a:t>Store measurable, event-level data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9FB0C3"/>
                </a:solidFill>
                <a:latin typeface="Space Grotesk"/>
              </a:rPr>
              <a:t>Enable aggregation, KPIs &amp; DAX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 rot="5400000">
            <a:off x="-1905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 rot="5400000">
            <a:off x="-381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 rot="5400000">
            <a:off x="1143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 rot="5400000">
            <a:off x="2667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 rot="5400000">
            <a:off x="4191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 rot="5400000">
            <a:off x="5715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 rot="5400000">
            <a:off x="7239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1520825"/>
            <a:ext cx="12192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3044825"/>
            <a:ext cx="12192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2000" y="698500"/>
            <a:ext cx="10668000" cy="825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EEF2F6"/>
                </a:solidFill>
                <a:latin typeface="Space Grotesk"/>
              </a:rPr>
              <a:t>Dimension Tables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2159000"/>
            <a:ext cx="2438400" cy="355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9FB0C3"/>
                </a:solidFill>
                <a:latin typeface="Space Grotesk"/>
              </a:rPr>
              <a:t>Dim_Date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9FB0C3"/>
                </a:solidFill>
                <a:latin typeface="Space Grotesk"/>
              </a:rPr>
              <a:t>Date, Year, Month, Quarter, Day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9FB0C3"/>
                </a:solidFill>
                <a:latin typeface="Space Grotesk"/>
              </a:rPr>
              <a:t>Enables time-based filtering and trend analysis across the mobility dataset.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5200" y="2159000"/>
            <a:ext cx="2438400" cy="355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9FB0C3"/>
                </a:solidFill>
                <a:latin typeface="Space Grotesk"/>
              </a:rPr>
              <a:t>Dim_City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9FB0C3"/>
                </a:solidFill>
                <a:latin typeface="Space Grotesk"/>
              </a:rPr>
              <a:t>City, Country, Region, GeoName ID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9FB0C3"/>
                </a:solidFill>
                <a:latin typeface="Space Grotesk"/>
              </a:rPr>
              <a:t>Provides geographic context for linking weather and happiness data by location.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8400" y="2159000"/>
            <a:ext cx="2438400" cy="355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9FB0C3"/>
                </a:solidFill>
                <a:latin typeface="Space Grotesk"/>
              </a:rPr>
              <a:t>Dim_WeatherStation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9FB0C3"/>
                </a:solidFill>
                <a:latin typeface="Space Grotesk"/>
              </a:rPr>
              <a:t>Station info, location, coordinates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9FB0C3"/>
                </a:solidFill>
                <a:latin typeface="Space Grotesk"/>
              </a:rPr>
              <a:t>Maps weather readings to precise physical station locations.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1600" y="2159000"/>
            <a:ext cx="2438400" cy="355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9FB0C3"/>
                </a:solidFill>
                <a:latin typeface="Space Grotesk"/>
              </a:rPr>
              <a:t>Dim_Happiness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9FB0C3"/>
                </a:solidFill>
                <a:latin typeface="Space Grotesk"/>
              </a:rPr>
              <a:t>Rank, Score, GDP, Health, Freedom, Generosity, Trust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9FB0C3"/>
                </a:solidFill>
                <a:latin typeface="Space Grotesk"/>
              </a:rPr>
              <a:t>Supports slicing and grouping by socio-economic well-being factors.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 rot="5400000">
            <a:off x="-1143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 rot="5400000">
            <a:off x="381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 rot="5400000">
            <a:off x="1905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 rot="5400000">
            <a:off x="3429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 rot="5400000">
            <a:off x="4953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 rot="5400000">
            <a:off x="6477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 rot="5400000">
            <a:off x="8001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1520825"/>
            <a:ext cx="12192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3044825"/>
            <a:ext cx="12192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2000" y="698500"/>
            <a:ext cx="10668000" cy="825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EEF2F6"/>
                </a:solidFill>
                <a:latin typeface="Space Grotesk"/>
              </a:rPr>
              <a:t>Star Schema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2095500"/>
            <a:ext cx="10668000" cy="3619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 u="none">
                <a:solidFill>
                  <a:srgbClr val="9FB0C3"/>
                </a:solidFill>
                <a:latin typeface="Space Grotesk"/>
              </a:rPr>
              <a:t>Dim_Date (1) → Fact_Mobility (N)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 u="none">
                <a:solidFill>
                  <a:srgbClr val="9FB0C3"/>
                </a:solidFill>
                <a:latin typeface="Space Grotesk"/>
              </a:rPr>
              <a:t>Dim_Date (1) → Fact_Trips (N)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 u="none">
                <a:solidFill>
                  <a:srgbClr val="9FB0C3"/>
                </a:solidFill>
                <a:latin typeface="Space Grotesk"/>
              </a:rPr>
              <a:t>Supporting dims: Dim_City, Dim_WeatherStation, Dim_Happiness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 u="none">
                <a:solidFill>
                  <a:srgbClr val="9FB0C3"/>
                </a:solidFill>
                <a:latin typeface="Space Grotesk"/>
              </a:rPr>
              <a:t>Facts hold measures; dimensions add context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 u="none">
                <a:solidFill>
                  <a:srgbClr val="9FB0C3"/>
                </a:solidFill>
                <a:latin typeface="Space Grotesk"/>
              </a:rPr>
              <a:t>Star schema simplifies queries &amp; powers reporting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 rot="5400000">
            <a:off x="-1905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 rot="5400000">
            <a:off x="-381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 rot="5400000">
            <a:off x="1143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 rot="5400000">
            <a:off x="2667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 rot="5400000">
            <a:off x="4191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 rot="5400000">
            <a:off x="5715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 rot="5400000">
            <a:off x="7239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1520825"/>
            <a:ext cx="12192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3044825"/>
            <a:ext cx="12192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9045" y="180258"/>
            <a:ext cx="10668000" cy="96376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i="0" u="none" dirty="0">
                <a:solidFill>
                  <a:srgbClr val="EEF2F6"/>
                </a:solidFill>
                <a:latin typeface="Space Grotesk"/>
              </a:rPr>
              <a:t>Star Schema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164591F-F068-582D-300E-4682E8FCE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6928" y="1219201"/>
            <a:ext cx="5976440" cy="545219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 rot="5400000">
            <a:off x="-1143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 rot="5400000">
            <a:off x="381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 rot="5400000">
            <a:off x="1905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 rot="5400000">
            <a:off x="3429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 rot="5400000">
            <a:off x="4953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 rot="5400000">
            <a:off x="6477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 rot="5400000">
            <a:off x="8001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1520825"/>
            <a:ext cx="12192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3044825"/>
            <a:ext cx="12192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095500"/>
            <a:ext cx="3352800" cy="3619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2095500"/>
            <a:ext cx="3352800" cy="3619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7200" y="2095500"/>
            <a:ext cx="3352800" cy="3619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2000" y="698500"/>
            <a:ext cx="10668000" cy="825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EEF2F6"/>
                </a:solidFill>
                <a:latin typeface="Space Grotesk"/>
              </a:rPr>
              <a:t>Data Model Relationships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1400" y="2476500"/>
            <a:ext cx="2794000" cy="444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u="none">
                <a:solidFill>
                  <a:srgbClr val="EEF2F6"/>
                </a:solidFill>
                <a:latin typeface="Space Grotesk"/>
              </a:rPr>
              <a:t>Date Links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1400" y="3048000"/>
            <a:ext cx="2794000" cy="241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9FB0C3"/>
                </a:solidFill>
                <a:latin typeface="Space Grotesk"/>
              </a:rPr>
              <a:t>Dim_Date[Date] → Fact_Mobility[Mobility_Date] (1:N)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9FB0C3"/>
                </a:solidFill>
                <a:latin typeface="Space Grotesk"/>
              </a:rPr>
              <a:t>Dim_Date[Date] → Fact_Trips[Trip_Start_Date] (1:N)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9000" y="2476500"/>
            <a:ext cx="2794000" cy="444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u="none">
                <a:solidFill>
                  <a:srgbClr val="EEF2F6"/>
                </a:solidFill>
                <a:latin typeface="Space Grotesk"/>
              </a:rPr>
              <a:t>Filter Behavior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99000" y="3048000"/>
            <a:ext cx="2794000" cy="2413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9FB0C3"/>
                </a:solidFill>
                <a:latin typeface="Space Grotesk"/>
              </a:rPr>
              <a:t>Cardinality: Many (1*)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9FB0C3"/>
                </a:solidFill>
                <a:latin typeface="Space Grotesk"/>
              </a:rPr>
              <a:t>Cross-filter direction: Single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6600" y="2476500"/>
            <a:ext cx="2794000" cy="444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 u="none">
                <a:solidFill>
                  <a:srgbClr val="EEF2F6"/>
                </a:solidFill>
                <a:latin typeface="Space Grotesk"/>
              </a:rPr>
              <a:t>Model Rules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6600" y="3048000"/>
            <a:ext cx="2794000" cy="241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u="none">
                <a:solidFill>
                  <a:srgbClr val="9FB0C3"/>
                </a:solidFill>
                <a:latin typeface="Space Grotesk"/>
              </a:rPr>
              <a:t>Dim_Date set as official Date table. Relationships built only where valid keys existed.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 rot="5400000">
            <a:off x="-1905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 rot="5400000">
            <a:off x="-381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 rot="5400000">
            <a:off x="1143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 rot="5400000">
            <a:off x="2667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 rot="5400000">
            <a:off x="4191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 rot="5400000">
            <a:off x="5715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 rot="5400000">
            <a:off x="7239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1520825"/>
            <a:ext cx="12192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3044825"/>
            <a:ext cx="12192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2000" y="698500"/>
            <a:ext cx="10668000" cy="825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EEF2F6"/>
                </a:solidFill>
                <a:latin typeface="Space Grotesk"/>
              </a:rPr>
              <a:t>DAX Implementation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2159000"/>
            <a:ext cx="5181600" cy="50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u="none">
                <a:solidFill>
                  <a:srgbClr val="EEF2F6"/>
                </a:solidFill>
                <a:latin typeface="Space Grotesk"/>
              </a:rPr>
              <a:t>Key Measures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2825750"/>
            <a:ext cx="5181600" cy="28892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9FB0C3"/>
                </a:solidFill>
                <a:latin typeface="Space Grotesk"/>
              </a:rPr>
              <a:t>Total Vehicles =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9FB0C3"/>
                </a:solidFill>
                <a:latin typeface="Space Grotesk"/>
              </a:rPr>
              <a:t>SUM(Fact_Mobility[Vehicle_Count])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endParaRPr sz="1400" b="0" i="0" u="none">
              <a:solidFill>
                <a:srgbClr val="9FB0C3"/>
              </a:solidFill>
              <a:latin typeface="Space Grotesk"/>
            </a:endParaRP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9FB0C3"/>
                </a:solidFill>
                <a:latin typeface="Space Grotesk"/>
              </a:rPr>
              <a:t>Average Traffic Speed =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9FB0C3"/>
                </a:solidFill>
                <a:latin typeface="Space Grotesk"/>
              </a:rPr>
              <a:t>AVERAGE(Fact_Mobility[Traffic_Speed_kmh])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endParaRPr sz="1400" b="0" i="0" u="none">
              <a:solidFill>
                <a:srgbClr val="9FB0C3"/>
              </a:solidFill>
              <a:latin typeface="Space Grotesk"/>
            </a:endParaRP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9FB0C3"/>
                </a:solidFill>
                <a:latin typeface="Space Grotesk"/>
              </a:rPr>
              <a:t>Total Trips =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9FB0C3"/>
                </a:solidFill>
                <a:latin typeface="Space Grotesk"/>
              </a:rPr>
              <a:t>COUNTROWS(Fact_Trips)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8400" y="2159000"/>
            <a:ext cx="5181600" cy="50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u="none">
                <a:solidFill>
                  <a:srgbClr val="EEF2F6"/>
                </a:solidFill>
                <a:latin typeface="Space Grotesk"/>
              </a:rPr>
              <a:t>Calculated Column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8400" y="2825750"/>
            <a:ext cx="5181600" cy="2889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9FB0C3"/>
                </a:solidFill>
                <a:latin typeface="Space Grotesk"/>
              </a:rPr>
              <a:t>Traffic Speed Category =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9FB0C3"/>
                </a:solidFill>
                <a:latin typeface="Space Grotesk"/>
              </a:rPr>
              <a:t>SWITCH(TRUE(),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9FB0C3"/>
                </a:solidFill>
                <a:latin typeface="Space Grotesk"/>
              </a:rPr>
              <a:t> [Speed_kmh]&lt;20, "Low",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9FB0C3"/>
                </a:solidFill>
                <a:latin typeface="Space Grotesk"/>
              </a:rPr>
              <a:t> [Speed_kmh]&lt;40, "Moderate",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9FB0C3"/>
                </a:solidFill>
                <a:latin typeface="Space Grotesk"/>
              </a:rPr>
              <a:t> "High")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endParaRPr sz="1400" b="0" i="0" u="none">
              <a:solidFill>
                <a:srgbClr val="9FB0C3"/>
              </a:solidFill>
              <a:latin typeface="Space Grotesk"/>
            </a:endParaRP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9FB0C3"/>
                </a:solidFill>
                <a:latin typeface="Space Grotesk"/>
              </a:rPr>
              <a:t>Measures react to filter context; calculated columns tag each row for categorization.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 rot="5400000">
            <a:off x="-1143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 rot="5400000">
            <a:off x="381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 rot="5400000">
            <a:off x="1905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 rot="5400000">
            <a:off x="3429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 rot="5400000">
            <a:off x="4953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 rot="5400000">
            <a:off x="6477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 rot="5400000">
            <a:off x="8001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1520825"/>
            <a:ext cx="12192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3044825"/>
            <a:ext cx="12192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32"/>
            <a:ext cx="6096000" cy="6858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58000" y="2413000"/>
            <a:ext cx="4572000" cy="762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u="none">
                <a:solidFill>
                  <a:srgbClr val="EEF2F6"/>
                </a:solidFill>
                <a:latin typeface="Space Grotesk"/>
              </a:rPr>
              <a:t>Mobility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302000"/>
            <a:ext cx="4572000" cy="18097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9FB0C3"/>
                </a:solidFill>
                <a:latin typeface="Space Grotesk"/>
              </a:rPr>
              <a:t>KPI Cards: Total Vehicles, Avg Speed, Road Occupancy, Ride-Sharing Demand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9FB0C3"/>
                </a:solidFill>
                <a:latin typeface="Space Grotesk"/>
              </a:rPr>
              <a:t>Charts: Volume Over Time, Volume by Speed, Trips by Purpose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9FB0C3"/>
                </a:solidFill>
                <a:latin typeface="Space Grotesk"/>
              </a:rPr>
              <a:t>Filters: Year, Weather, Traffic Condition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u="none">
                <a:solidFill>
                  <a:srgbClr val="9FB0C3"/>
                </a:solidFill>
                <a:latin typeface="Space Grotesk"/>
              </a:rPr>
              <a:t>Transforms the data model into an interactive interface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 rot="5400000">
            <a:off x="-1905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 rot="5400000">
            <a:off x="-381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 rot="5400000">
            <a:off x="1143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 rot="5400000">
            <a:off x="2667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 rot="5400000">
            <a:off x="4191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 rot="5400000">
            <a:off x="5715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 rot="5400000">
            <a:off x="7239000" y="3425825"/>
            <a:ext cx="6858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1520825"/>
            <a:ext cx="12192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3044825"/>
            <a:ext cx="12192000" cy="6350"/>
          </a:xfrm>
          <a:prstGeom prst="rect">
            <a:avLst/>
          </a:prstGeom>
          <a:solidFill>
            <a:srgbClr val="1D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2000" y="698500"/>
            <a:ext cx="10668000" cy="825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u="none">
                <a:solidFill>
                  <a:srgbClr val="EEF2F6"/>
                </a:solidFill>
                <a:latin typeface="Space Grotesk"/>
              </a:rPr>
              <a:t>Conclusion &amp; Future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2095500"/>
            <a:ext cx="5080000" cy="3619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u="none" dirty="0">
                <a:solidFill>
                  <a:srgbClr val="9FB0C3"/>
                </a:solidFill>
                <a:latin typeface="Space Grotesk"/>
              </a:rPr>
              <a:t>Milestone 2: Built structured Power BI model with Fact/Dimension architecture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u="none" dirty="0">
                <a:solidFill>
                  <a:srgbClr val="9FB0C3"/>
                </a:solidFill>
                <a:latin typeface="Space Grotesk"/>
              </a:rPr>
              <a:t>Added Date dimension and DAX-driven KPIs for analysis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u="none" dirty="0">
                <a:solidFill>
                  <a:srgbClr val="9FB0C3"/>
                </a:solidFill>
                <a:latin typeface="Space Grotesk"/>
              </a:rPr>
              <a:t>Next: Time-intelligence and map-based traffic visualization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 u="none" dirty="0">
                <a:solidFill>
                  <a:srgbClr val="9FB0C3"/>
                </a:solidFill>
                <a:latin typeface="Space Grotesk"/>
              </a:rPr>
              <a:t>Next: Traffic-flow prediction and accident-risk analysis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0" y="2095500"/>
            <a:ext cx="5080000" cy="3619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691</Words>
  <Application>Microsoft Office PowerPoint</Application>
  <PresentationFormat>Widescreen</PresentationFormat>
  <Paragraphs>97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madhuri gundlakunta</dc:creator>
  <cp:keywords/>
  <dc:description>generated using python-pptx</dc:description>
  <cp:lastModifiedBy>madhuri gundlakunta</cp:lastModifiedBy>
  <cp:revision>2</cp:revision>
  <dcterms:created xsi:type="dcterms:W3CDTF">2013-01-27T09:14:16Z</dcterms:created>
  <dcterms:modified xsi:type="dcterms:W3CDTF">2026-08-23T09:23:52Z</dcterms:modified>
  <cp:category/>
</cp:coreProperties>
</file>