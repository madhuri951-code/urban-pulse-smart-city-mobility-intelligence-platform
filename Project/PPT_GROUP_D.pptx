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26"/>
  </p:notesMasterIdLst>
  <p:handoutMasterIdLst>
    <p:handoutMasterId r:id="rId27"/>
  </p:handoutMasterIdLst>
  <p:sldIdLst>
    <p:sldId id="325" r:id="rId5"/>
    <p:sldId id="326" r:id="rId6"/>
    <p:sldId id="258" r:id="rId7"/>
    <p:sldId id="352" r:id="rId8"/>
    <p:sldId id="259" r:id="rId9"/>
    <p:sldId id="257" r:id="rId10"/>
    <p:sldId id="349" r:id="rId11"/>
    <p:sldId id="350" r:id="rId12"/>
    <p:sldId id="351" r:id="rId13"/>
    <p:sldId id="356" r:id="rId14"/>
    <p:sldId id="355" r:id="rId15"/>
    <p:sldId id="343" r:id="rId16"/>
    <p:sldId id="344" r:id="rId17"/>
    <p:sldId id="348" r:id="rId18"/>
    <p:sldId id="354" r:id="rId19"/>
    <p:sldId id="353" r:id="rId20"/>
    <p:sldId id="346" r:id="rId21"/>
    <p:sldId id="347" r:id="rId22"/>
    <p:sldId id="342" r:id="rId23"/>
    <p:sldId id="345" r:id="rId24"/>
    <p:sldId id="340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816" userDrawn="1">
          <p15:clr>
            <a:srgbClr val="A4A3A4"/>
          </p15:clr>
        </p15:guide>
        <p15:guide id="2" orient="horz" pos="384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ED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BC89EF96-8CEA-46FF-86C4-4CE0E7609802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3447" autoAdjust="0"/>
  </p:normalViewPr>
  <p:slideViewPr>
    <p:cSldViewPr snapToGrid="0">
      <p:cViewPr varScale="1">
        <p:scale>
          <a:sx n="63" d="100"/>
          <a:sy n="63" d="100"/>
        </p:scale>
        <p:origin x="804" y="56"/>
      </p:cViewPr>
      <p:guideLst>
        <p:guide pos="816"/>
        <p:guide orient="horz" pos="384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1" d="100"/>
          <a:sy n="81" d="100"/>
        </p:scale>
        <p:origin x="2816" y="20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commentAuthors" Target="commentAuthor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handoutMaster" Target="handoutMasters/handoutMaster1.xml"/><Relationship Id="rId30" Type="http://schemas.openxmlformats.org/officeDocument/2006/relationships/viewProps" Target="viewProps.xml"/><Relationship Id="rId8" Type="http://schemas.openxmlformats.org/officeDocument/2006/relationships/slide" Target="slides/slide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BA57456-157A-C12A-2FEC-91B7B9EE491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9D46761-828E-1508-56BD-BAEADF34862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F95820-84BB-3447-8286-60A51307E7F2}" type="datetimeFigureOut">
              <a:rPr lang="en-US" smtClean="0"/>
              <a:t>8/26/2026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428A7E-6B0E-809C-73D1-4B5E2FF471A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9A5AA6-0C5B-430A-E0C4-C90B2F0A1CD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476440-F66F-F947-8EFC-EA5202ACFD2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7117637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08FC54-6AE4-6A4A-9756-823A0F1BE5A6}" type="datetimeFigureOut">
              <a:rPr lang="en-US" smtClean="0"/>
              <a:t>8/26/2026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79E9EB-07EB-9D44-9F5A-AB1FBECCDD8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6758749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>
            <a:extLst>
              <a:ext uri="{FF2B5EF4-FFF2-40B4-BE49-F238E27FC236}">
                <a16:creationId xmlns:a16="http://schemas.microsoft.com/office/drawing/2014/main" id="{76609C33-D605-6146-1378-F67C572F05C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304800 w 12192000"/>
              <a:gd name="connsiteY0" fmla="*/ 266701 h 6858000"/>
              <a:gd name="connsiteX1" fmla="*/ 304800 w 12192000"/>
              <a:gd name="connsiteY1" fmla="*/ 6591300 h 6858000"/>
              <a:gd name="connsiteX2" fmla="*/ 11887200 w 12192000"/>
              <a:gd name="connsiteY2" fmla="*/ 6591300 h 6858000"/>
              <a:gd name="connsiteX3" fmla="*/ 11887200 w 12192000"/>
              <a:gd name="connsiteY3" fmla="*/ 266701 h 6858000"/>
              <a:gd name="connsiteX4" fmla="*/ 0 w 12192000"/>
              <a:gd name="connsiteY4" fmla="*/ 0 h 6858000"/>
              <a:gd name="connsiteX5" fmla="*/ 12192000 w 12192000"/>
              <a:gd name="connsiteY5" fmla="*/ 0 h 6858000"/>
              <a:gd name="connsiteX6" fmla="*/ 12192000 w 12192000"/>
              <a:gd name="connsiteY6" fmla="*/ 6858000 h 6858000"/>
              <a:gd name="connsiteX7" fmla="*/ 0 w 12192000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58000">
                <a:moveTo>
                  <a:pt x="304800" y="266701"/>
                </a:moveTo>
                <a:lnTo>
                  <a:pt x="304800" y="6591300"/>
                </a:lnTo>
                <a:lnTo>
                  <a:pt x="11887200" y="6591300"/>
                </a:lnTo>
                <a:lnTo>
                  <a:pt x="11887200" y="266701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42398E06-9E0E-BC81-DEB5-1DB2F8635C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17320"/>
            <a:ext cx="10515600" cy="4023360"/>
          </a:xfrm>
        </p:spPr>
        <p:txBody>
          <a:bodyPr anchor="ctr"/>
          <a:lstStyle>
            <a:lvl1pPr algn="ctr">
              <a:defRPr sz="5400" spc="3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6044184"/>
            <a:ext cx="9144000" cy="356616"/>
          </a:xfrm>
        </p:spPr>
        <p:txBody>
          <a:bodyPr/>
          <a:lstStyle>
            <a:lvl1pPr marL="0" indent="0" algn="ctr">
              <a:buNone/>
              <a:defRPr sz="2400" cap="all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DDC5B68-548C-395D-B9A9-EA694F6CB59F}"/>
              </a:ext>
            </a:extLst>
          </p:cNvPr>
          <p:cNvSpPr/>
          <p:nvPr userDrawn="1"/>
        </p:nvSpPr>
        <p:spPr>
          <a:xfrm>
            <a:off x="5891213" y="5628222"/>
            <a:ext cx="409575" cy="883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06911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imag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: Shape 4">
            <a:extLst>
              <a:ext uri="{FF2B5EF4-FFF2-40B4-BE49-F238E27FC236}">
                <a16:creationId xmlns:a16="http://schemas.microsoft.com/office/drawing/2014/main" id="{F738F023-8BDF-71DB-D6AB-776F7C6413B2}"/>
              </a:ext>
            </a:extLst>
          </p:cNvPr>
          <p:cNvSpPr/>
          <p:nvPr userDrawn="1"/>
        </p:nvSpPr>
        <p:spPr>
          <a:xfrm>
            <a:off x="8610600" y="0"/>
            <a:ext cx="3581400" cy="6858000"/>
          </a:xfrm>
          <a:custGeom>
            <a:avLst/>
            <a:gdLst>
              <a:gd name="connsiteX0" fmla="*/ 0 w 3581400"/>
              <a:gd name="connsiteY0" fmla="*/ 0 h 6858000"/>
              <a:gd name="connsiteX1" fmla="*/ 3581400 w 3581400"/>
              <a:gd name="connsiteY1" fmla="*/ 0 h 6858000"/>
              <a:gd name="connsiteX2" fmla="*/ 3581400 w 3581400"/>
              <a:gd name="connsiteY2" fmla="*/ 6858000 h 6858000"/>
              <a:gd name="connsiteX3" fmla="*/ 0 w 3581400"/>
              <a:gd name="connsiteY3" fmla="*/ 6858000 h 6858000"/>
              <a:gd name="connsiteX4" fmla="*/ 0 w 3581400"/>
              <a:gd name="connsiteY4" fmla="*/ 6172201 h 6858000"/>
              <a:gd name="connsiteX5" fmla="*/ 2971800 w 3581400"/>
              <a:gd name="connsiteY5" fmla="*/ 6172201 h 6858000"/>
              <a:gd name="connsiteX6" fmla="*/ 2971800 w 3581400"/>
              <a:gd name="connsiteY6" fmla="*/ 685800 h 6858000"/>
              <a:gd name="connsiteX7" fmla="*/ 0 w 3581400"/>
              <a:gd name="connsiteY7" fmla="*/ 6858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581400" h="6858000">
                <a:moveTo>
                  <a:pt x="0" y="0"/>
                </a:moveTo>
                <a:lnTo>
                  <a:pt x="3581400" y="0"/>
                </a:lnTo>
                <a:lnTo>
                  <a:pt x="3581400" y="6858000"/>
                </a:lnTo>
                <a:lnTo>
                  <a:pt x="0" y="6858000"/>
                </a:lnTo>
                <a:lnTo>
                  <a:pt x="0" y="6172201"/>
                </a:lnTo>
                <a:lnTo>
                  <a:pt x="2971800" y="6172201"/>
                </a:lnTo>
                <a:lnTo>
                  <a:pt x="2971800" y="685800"/>
                </a:lnTo>
                <a:lnTo>
                  <a:pt x="0" y="6858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1097280"/>
            <a:ext cx="4114800" cy="2286000"/>
          </a:xfrm>
        </p:spPr>
        <p:txBody>
          <a:bodyPr/>
          <a:lstStyle>
            <a:lvl1pPr>
              <a:defRPr sz="3200" spc="3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0160" y="3566160"/>
            <a:ext cx="4114800" cy="2651760"/>
          </a:xfrm>
        </p:spPr>
        <p:txBody>
          <a:bodyPr>
            <a:normAutofit/>
          </a:bodyPr>
          <a:lstStyle>
            <a:lvl1pPr marL="457200" indent="-457200">
              <a:lnSpc>
                <a:spcPct val="100000"/>
              </a:lnSpc>
              <a:spcBef>
                <a:spcPts val="14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 sz="2400" cap="all" spc="0" baseline="0"/>
            </a:lvl1pPr>
            <a:lvl2pPr marL="914400">
              <a:defRPr spc="0" baseline="0"/>
            </a:lvl2pPr>
            <a:lvl3pPr marL="1371600">
              <a:defRPr spc="0" baseline="0"/>
            </a:lvl3pPr>
            <a:lvl4pPr marL="1828800">
              <a:defRPr spc="0" baseline="0"/>
            </a:lvl4pPr>
            <a:lvl5pPr marL="2286000">
              <a:defRPr spc="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90AD0F96-99DE-C9D9-569E-AE6FC6307EA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687568" y="1435608"/>
            <a:ext cx="5897880" cy="3977640"/>
          </a:xfrm>
          <a:noFill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69BB099-33E8-8B24-7E54-70E7457A1C7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5DF2D63-3FF5-D547-96B9-BE9CCD1ABA5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23EB7E3-3953-BAB4-1B15-383082C6C31E}"/>
              </a:ext>
            </a:extLst>
          </p:cNvPr>
          <p:cNvCxnSpPr>
            <a:cxnSpLocks/>
          </p:cNvCxnSpPr>
          <p:nvPr userDrawn="1"/>
        </p:nvCxnSpPr>
        <p:spPr>
          <a:xfrm>
            <a:off x="1295400" y="822960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768168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 +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1248" y="2697480"/>
            <a:ext cx="10515600" cy="2606040"/>
          </a:xfr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3BC2DF-9C2A-052C-AD2C-0A8ABAA503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1248" y="6044184"/>
            <a:ext cx="10515600" cy="457200"/>
          </a:xfrm>
        </p:spPr>
        <p:txBody>
          <a:bodyPr>
            <a:normAutofit/>
          </a:bodyPr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Picture Placeholder 7">
            <a:extLst>
              <a:ext uri="{FF2B5EF4-FFF2-40B4-BE49-F238E27FC236}">
                <a16:creationId xmlns:a16="http://schemas.microsoft.com/office/drawing/2014/main" id="{AA872EE9-FDFB-95A7-3547-DCAA0B51FE2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88952" cy="2368296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03AD4F0-8C4C-FC68-2450-06419A6D0131}"/>
              </a:ext>
            </a:extLst>
          </p:cNvPr>
          <p:cNvSpPr/>
          <p:nvPr userDrawn="1"/>
        </p:nvSpPr>
        <p:spPr>
          <a:xfrm>
            <a:off x="5891213" y="5628222"/>
            <a:ext cx="409575" cy="883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21597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 14">
            <a:extLst>
              <a:ext uri="{FF2B5EF4-FFF2-40B4-BE49-F238E27FC236}">
                <a16:creationId xmlns:a16="http://schemas.microsoft.com/office/drawing/2014/main" id="{A510974D-B222-2876-052D-21F0E075D288}"/>
              </a:ext>
            </a:extLst>
          </p:cNvPr>
          <p:cNvSpPr/>
          <p:nvPr userDrawn="1"/>
        </p:nvSpPr>
        <p:spPr>
          <a:xfrm>
            <a:off x="0" y="0"/>
            <a:ext cx="12192000" cy="4457700"/>
          </a:xfrm>
          <a:custGeom>
            <a:avLst/>
            <a:gdLst>
              <a:gd name="connsiteX0" fmla="*/ 0 w 12192000"/>
              <a:gd name="connsiteY0" fmla="*/ 0 h 4457700"/>
              <a:gd name="connsiteX1" fmla="*/ 12192000 w 12192000"/>
              <a:gd name="connsiteY1" fmla="*/ 0 h 4457700"/>
              <a:gd name="connsiteX2" fmla="*/ 12192000 w 12192000"/>
              <a:gd name="connsiteY2" fmla="*/ 4457700 h 4457700"/>
              <a:gd name="connsiteX3" fmla="*/ 11563350 w 12192000"/>
              <a:gd name="connsiteY3" fmla="*/ 4457700 h 4457700"/>
              <a:gd name="connsiteX4" fmla="*/ 11563350 w 12192000"/>
              <a:gd name="connsiteY4" fmla="*/ 685800 h 4457700"/>
              <a:gd name="connsiteX5" fmla="*/ 628650 w 12192000"/>
              <a:gd name="connsiteY5" fmla="*/ 685800 h 4457700"/>
              <a:gd name="connsiteX6" fmla="*/ 628650 w 12192000"/>
              <a:gd name="connsiteY6" fmla="*/ 4457700 h 4457700"/>
              <a:gd name="connsiteX7" fmla="*/ 0 w 12192000"/>
              <a:gd name="connsiteY7" fmla="*/ 4457700 h 4457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4457700">
                <a:moveTo>
                  <a:pt x="0" y="0"/>
                </a:moveTo>
                <a:lnTo>
                  <a:pt x="12192000" y="0"/>
                </a:lnTo>
                <a:lnTo>
                  <a:pt x="12192000" y="4457700"/>
                </a:lnTo>
                <a:lnTo>
                  <a:pt x="11563350" y="4457700"/>
                </a:lnTo>
                <a:lnTo>
                  <a:pt x="11563350" y="685800"/>
                </a:lnTo>
                <a:lnTo>
                  <a:pt x="628650" y="685800"/>
                </a:lnTo>
                <a:lnTo>
                  <a:pt x="628650" y="4457700"/>
                </a:lnTo>
                <a:lnTo>
                  <a:pt x="0" y="44577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78408" y="1143000"/>
            <a:ext cx="10241280" cy="2286000"/>
          </a:xfrm>
        </p:spPr>
        <p:txBody>
          <a:bodyPr anchor="b"/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3BC2DF-9C2A-052C-AD2C-0A8ABAA503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75688" y="3803904"/>
            <a:ext cx="8046720" cy="914400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A1A471A-8A28-B00F-72E9-849D5E6B7257}"/>
              </a:ext>
            </a:extLst>
          </p:cNvPr>
          <p:cNvSpPr/>
          <p:nvPr userDrawn="1"/>
        </p:nvSpPr>
        <p:spPr>
          <a:xfrm>
            <a:off x="5891213" y="5628222"/>
            <a:ext cx="409575" cy="883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5285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3BB82FF-5339-5456-4D30-0C2DA7907AAE}"/>
              </a:ext>
            </a:extLst>
          </p:cNvPr>
          <p:cNvSpPr/>
          <p:nvPr userDrawn="1"/>
        </p:nvSpPr>
        <p:spPr>
          <a:xfrm>
            <a:off x="0" y="0"/>
            <a:ext cx="356616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0096" y="1097280"/>
            <a:ext cx="6217920" cy="1828800"/>
          </a:xfrm>
        </p:spPr>
        <p:txBody>
          <a:bodyPr/>
          <a:lstStyle>
            <a:lvl1pPr>
              <a:defRPr sz="3200" spc="3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2C39A257-2366-FF6B-67AD-9342B6B0B68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298448" y="1828800"/>
            <a:ext cx="3200400" cy="3200400"/>
          </a:xfrm>
          <a:prstGeom prst="ellipse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40096" y="3429000"/>
            <a:ext cx="6217920" cy="2743200"/>
          </a:xfrm>
        </p:spPr>
        <p:txBody>
          <a:bodyPr>
            <a:normAutofit/>
          </a:bodyPr>
          <a:lstStyle>
            <a:lvl1pPr marL="457200">
              <a:spcBef>
                <a:spcPts val="1400"/>
              </a:spcBef>
              <a:buSzPct val="80000"/>
              <a:defRPr cap="all" spc="0" baseline="0"/>
            </a:lvl1pPr>
            <a:lvl2pPr marL="914400">
              <a:buSzPct val="80000"/>
              <a:defRPr spc="0" baseline="0"/>
            </a:lvl2pPr>
            <a:lvl3pPr marL="1371600">
              <a:buSzPct val="80000"/>
              <a:defRPr spc="0" baseline="0"/>
            </a:lvl3pPr>
            <a:lvl4pPr marL="1828800">
              <a:buSzPct val="80000"/>
              <a:defRPr spc="0" baseline="0"/>
            </a:lvl4pPr>
            <a:lvl5pPr marL="2286000">
              <a:buSzPct val="80000"/>
              <a:defRPr spc="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17F99EA-AB5F-24F3-D971-2B9BDE3B4F3C}"/>
              </a:ext>
            </a:extLst>
          </p:cNvPr>
          <p:cNvSpPr txBox="1"/>
          <p:nvPr userDrawn="1"/>
        </p:nvSpPr>
        <p:spPr>
          <a:xfrm>
            <a:off x="641838" y="554794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69BB099-33E8-8B24-7E54-70E7457A1C7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5DF2D63-3FF5-D547-96B9-BE9CCD1ABA5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DA4A755-28B6-5A01-94AB-C3CCC4368885}"/>
              </a:ext>
            </a:extLst>
          </p:cNvPr>
          <p:cNvCxnSpPr>
            <a:cxnSpLocks/>
          </p:cNvCxnSpPr>
          <p:nvPr userDrawn="1"/>
        </p:nvCxnSpPr>
        <p:spPr>
          <a:xfrm>
            <a:off x="5340096" y="822960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13399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pictur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592AF4F-2F83-7005-B3AC-6FCC7FB1914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524000" y="1481328"/>
            <a:ext cx="9144000" cy="3895344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076C4EAC-BBDE-1963-BD72-3BD2A47DC5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84248" y="1920240"/>
            <a:ext cx="8229600" cy="3017520"/>
          </a:xfrm>
        </p:spPr>
        <p:txBody>
          <a:bodyPr anchor="ctr"/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54835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pictu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CBCF04C-49F6-66E8-41A0-B3C371944EA1}"/>
              </a:ext>
            </a:extLst>
          </p:cNvPr>
          <p:cNvSpPr/>
          <p:nvPr userDrawn="1"/>
        </p:nvSpPr>
        <p:spPr>
          <a:xfrm>
            <a:off x="6705600" y="0"/>
            <a:ext cx="5486400" cy="6858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3931920"/>
            <a:ext cx="5029200" cy="18288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7">
            <a:extLst>
              <a:ext uri="{FF2B5EF4-FFF2-40B4-BE49-F238E27FC236}">
                <a16:creationId xmlns:a16="http://schemas.microsoft.com/office/drawing/2014/main" id="{DDE351D0-FB9C-3473-AF28-52927741728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280160" y="548640"/>
            <a:ext cx="3017520" cy="3017520"/>
          </a:xfrm>
          <a:prstGeom prst="ellipse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813049-5F46-053E-6279-8183259649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205472" y="731520"/>
            <a:ext cx="4306824" cy="5394960"/>
          </a:xfrm>
        </p:spPr>
        <p:txBody>
          <a:bodyPr anchor="b">
            <a:normAutofit/>
          </a:bodyPr>
          <a:lstStyle>
            <a:lvl1pPr marL="457200">
              <a:spcBef>
                <a:spcPts val="1400"/>
              </a:spcBef>
              <a:buClr>
                <a:schemeClr val="tx1"/>
              </a:buClr>
              <a:buSzPct val="80000"/>
              <a:defRPr cap="all" baseline="0"/>
            </a:lvl1pPr>
            <a:lvl2pPr marL="914400">
              <a:buClr>
                <a:schemeClr val="tx1"/>
              </a:buClr>
              <a:buSzPct val="80000"/>
              <a:defRPr/>
            </a:lvl2pPr>
            <a:lvl3pPr marL="1371600">
              <a:buClr>
                <a:schemeClr val="tx1"/>
              </a:buClr>
              <a:buSzPct val="80000"/>
              <a:defRPr/>
            </a:lvl3pPr>
            <a:lvl4pPr marL="1828800">
              <a:buClr>
                <a:schemeClr val="tx1"/>
              </a:buClr>
              <a:buSzPct val="80000"/>
              <a:defRPr/>
            </a:lvl4pPr>
            <a:lvl5pPr marL="2286000">
              <a:buClr>
                <a:schemeClr val="tx1"/>
              </a:buClr>
              <a:buSzPct val="80000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1171EC5-29BE-C106-1E9B-0CBDB598A131}"/>
              </a:ext>
            </a:extLst>
          </p:cNvPr>
          <p:cNvCxnSpPr>
            <a:cxnSpLocks/>
          </p:cNvCxnSpPr>
          <p:nvPr userDrawn="1"/>
        </p:nvCxnSpPr>
        <p:spPr>
          <a:xfrm>
            <a:off x="1298448" y="6111876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662147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 light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1097280"/>
            <a:ext cx="9821955" cy="914400"/>
          </a:xfrm>
        </p:spPr>
        <p:txBody>
          <a:bodyPr anchor="t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813049-5F46-053E-6279-8183259649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80160" y="2377440"/>
            <a:ext cx="4663440" cy="3566160"/>
          </a:xfrm>
          <a:solidFill>
            <a:schemeClr val="accent1">
              <a:lumMod val="20000"/>
              <a:lumOff val="80000"/>
            </a:schemeClr>
          </a:solidFill>
        </p:spPr>
        <p:txBody>
          <a:bodyPr lIns="365760" tIns="365760" rIns="365760" bIns="365760">
            <a:normAutofit/>
          </a:bodyPr>
          <a:lstStyle>
            <a:lvl1pPr marL="457200">
              <a:lnSpc>
                <a:spcPct val="90000"/>
              </a:lnSpc>
              <a:spcBef>
                <a:spcPts val="1400"/>
              </a:spcBef>
              <a:buClr>
                <a:schemeClr val="tx1"/>
              </a:buClr>
              <a:buSzPct val="80000"/>
              <a:defRPr sz="1800"/>
            </a:lvl1pPr>
            <a:lvl2pPr marL="914400">
              <a:lnSpc>
                <a:spcPct val="90000"/>
              </a:lnSpc>
              <a:buClr>
                <a:schemeClr val="tx1"/>
              </a:buClr>
              <a:buSzPct val="80000"/>
              <a:defRPr sz="1600"/>
            </a:lvl2pPr>
            <a:lvl3pPr marL="1371600">
              <a:lnSpc>
                <a:spcPct val="90000"/>
              </a:lnSpc>
              <a:buClr>
                <a:schemeClr val="tx1"/>
              </a:buClr>
              <a:buSzPct val="80000"/>
              <a:defRPr sz="1400"/>
            </a:lvl3pPr>
            <a:lvl4pPr marL="1828800">
              <a:lnSpc>
                <a:spcPct val="90000"/>
              </a:lnSpc>
              <a:buClr>
                <a:schemeClr val="tx1"/>
              </a:buClr>
              <a:buSzPct val="80000"/>
              <a:defRPr sz="1200"/>
            </a:lvl4pPr>
            <a:lvl5pPr marL="2286000">
              <a:lnSpc>
                <a:spcPct val="90000"/>
              </a:lnSpc>
              <a:buClr>
                <a:schemeClr val="tx1"/>
              </a:buClr>
              <a:buSzPct val="80000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DFB03A-367B-9ADA-8071-E22871EC11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9360" y="2377440"/>
            <a:ext cx="4663440" cy="3566160"/>
          </a:xfrm>
          <a:solidFill>
            <a:schemeClr val="accent1">
              <a:lumMod val="20000"/>
              <a:lumOff val="80000"/>
            </a:schemeClr>
          </a:solidFill>
        </p:spPr>
        <p:txBody>
          <a:bodyPr lIns="365760" tIns="365760" rIns="365760" bIns="365760">
            <a:normAutofit/>
          </a:bodyPr>
          <a:lstStyle>
            <a:lvl1pPr marL="457200">
              <a:lnSpc>
                <a:spcPct val="90000"/>
              </a:lnSpc>
              <a:spcBef>
                <a:spcPts val="1400"/>
              </a:spcBef>
              <a:buClr>
                <a:schemeClr val="tx1"/>
              </a:buClr>
              <a:buSzPct val="80000"/>
              <a:defRPr sz="1800"/>
            </a:lvl1pPr>
            <a:lvl2pPr marL="914400">
              <a:lnSpc>
                <a:spcPct val="90000"/>
              </a:lnSpc>
              <a:buClr>
                <a:schemeClr val="tx1"/>
              </a:buClr>
              <a:buSzPct val="80000"/>
              <a:defRPr sz="1600"/>
            </a:lvl2pPr>
            <a:lvl3pPr marL="1371600">
              <a:lnSpc>
                <a:spcPct val="90000"/>
              </a:lnSpc>
              <a:buClr>
                <a:schemeClr val="tx1"/>
              </a:buClr>
              <a:buSzPct val="80000"/>
              <a:defRPr sz="1400"/>
            </a:lvl3pPr>
            <a:lvl4pPr marL="1828800">
              <a:lnSpc>
                <a:spcPct val="90000"/>
              </a:lnSpc>
              <a:buClr>
                <a:schemeClr val="tx1"/>
              </a:buClr>
              <a:buSzPct val="80000"/>
              <a:defRPr sz="1200"/>
            </a:lvl4pPr>
            <a:lvl5pPr marL="2286000">
              <a:lnSpc>
                <a:spcPct val="90000"/>
              </a:lnSpc>
              <a:buClr>
                <a:schemeClr val="tx1"/>
              </a:buClr>
              <a:buSzPct val="80000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41554B7-BB36-76F6-DD79-11088AA69E82}"/>
              </a:ext>
            </a:extLst>
          </p:cNvPr>
          <p:cNvCxnSpPr>
            <a:cxnSpLocks/>
          </p:cNvCxnSpPr>
          <p:nvPr userDrawn="1"/>
        </p:nvCxnSpPr>
        <p:spPr>
          <a:xfrm>
            <a:off x="1295400" y="822960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681088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9BC2AC2-003C-AACD-1271-F2F8FBE8FD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1097280"/>
            <a:ext cx="5029200" cy="1828800"/>
          </a:xfrm>
        </p:spPr>
        <p:txBody>
          <a:bodyPr anchor="t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DD758F50-A87C-F2A1-40E8-08F07081E9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784848" y="1097280"/>
            <a:ext cx="4572000" cy="1828800"/>
          </a:xfrm>
          <a:noFill/>
        </p:spPr>
        <p:txBody>
          <a:bodyPr lIns="0" tIns="0" rIns="0" bIns="0">
            <a:normAutofit/>
          </a:bodyPr>
          <a:lstStyle>
            <a:lvl1pPr marL="457200">
              <a:spcBef>
                <a:spcPts val="1400"/>
              </a:spcBef>
              <a:buSzPct val="80000"/>
              <a:defRPr sz="1800"/>
            </a:lvl1pPr>
            <a:lvl2pPr marL="914400">
              <a:buSzPct val="80000"/>
              <a:defRPr sz="1600"/>
            </a:lvl2pPr>
            <a:lvl3pPr marL="1371600">
              <a:buSzPct val="80000"/>
              <a:defRPr sz="1400"/>
            </a:lvl3pPr>
            <a:lvl4pPr marL="1828800">
              <a:buSzPct val="80000"/>
              <a:defRPr sz="1200"/>
            </a:lvl4pPr>
            <a:lvl5pPr marL="2286000">
              <a:buSzPct val="80000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023B02AB-1DB6-AF79-E1B3-175C76BE57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80160" y="3172968"/>
            <a:ext cx="10076688" cy="3108960"/>
          </a:xfrm>
          <a:noFill/>
        </p:spPr>
        <p:txBody>
          <a:bodyPr lIns="0" tIns="0" rIns="0" bIns="0">
            <a:normAutofit/>
          </a:bodyPr>
          <a:lstStyle>
            <a:lvl1pPr marL="457200">
              <a:spcBef>
                <a:spcPts val="1400"/>
              </a:spcBef>
              <a:buSzPct val="80000"/>
              <a:defRPr sz="1800"/>
            </a:lvl1pPr>
            <a:lvl2pPr marL="914400">
              <a:buSzPct val="80000"/>
              <a:defRPr sz="1600"/>
            </a:lvl2pPr>
            <a:lvl3pPr marL="1371600">
              <a:buSzPct val="80000"/>
              <a:defRPr sz="1400"/>
            </a:lvl3pPr>
            <a:lvl4pPr marL="1828800">
              <a:buSzPct val="80000"/>
              <a:defRPr sz="1200"/>
            </a:lvl4pPr>
            <a:lvl5pPr marL="2286000">
              <a:buSzPct val="80000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2041A78-2CBE-4D73-EF5D-E65139C79DC2}"/>
              </a:ext>
            </a:extLst>
          </p:cNvPr>
          <p:cNvCxnSpPr>
            <a:cxnSpLocks/>
          </p:cNvCxnSpPr>
          <p:nvPr userDrawn="1"/>
        </p:nvCxnSpPr>
        <p:spPr>
          <a:xfrm>
            <a:off x="1295400" y="822960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227748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9BC2AC2-003C-AACD-1271-F2F8FBE8FD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1097280"/>
            <a:ext cx="9820656" cy="914400"/>
          </a:xfrm>
        </p:spPr>
        <p:txBody>
          <a:bodyPr anchor="t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DD758F50-A87C-F2A1-40E8-08F07081E9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80160" y="2377440"/>
            <a:ext cx="4572000" cy="3429000"/>
          </a:xfrm>
          <a:noFill/>
        </p:spPr>
        <p:txBody>
          <a:bodyPr lIns="0" tIns="0" rIns="0" bIns="0">
            <a:normAutofit/>
          </a:bodyPr>
          <a:lstStyle>
            <a:lvl1pPr marL="228600" indent="-228600">
              <a:lnSpc>
                <a:spcPct val="90000"/>
              </a:lnSpc>
              <a:spcBef>
                <a:spcPts val="1400"/>
              </a:spcBef>
              <a:buSzPct val="80000"/>
              <a:defRPr sz="1800" b="1"/>
            </a:lvl1pPr>
            <a:lvl2pPr marL="457200" indent="0">
              <a:lnSpc>
                <a:spcPct val="90000"/>
              </a:lnSpc>
              <a:spcBef>
                <a:spcPts val="1400"/>
              </a:spcBef>
              <a:buSzPct val="80000"/>
              <a:buNone/>
              <a:defRPr sz="1800"/>
            </a:lvl2pPr>
            <a:lvl3pPr marL="914400">
              <a:lnSpc>
                <a:spcPct val="90000"/>
              </a:lnSpc>
              <a:spcBef>
                <a:spcPts val="1400"/>
              </a:spcBef>
              <a:buSzPct val="80000"/>
              <a:defRPr sz="1800"/>
            </a:lvl3pPr>
            <a:lvl4pPr marL="914400" indent="0">
              <a:lnSpc>
                <a:spcPct val="90000"/>
              </a:lnSpc>
              <a:spcBef>
                <a:spcPts val="1400"/>
              </a:spcBef>
              <a:buSzPct val="80000"/>
              <a:buNone/>
              <a:defRPr sz="1800"/>
            </a:lvl4pPr>
            <a:lvl5pPr marL="1371600">
              <a:lnSpc>
                <a:spcPct val="90000"/>
              </a:lnSpc>
              <a:spcBef>
                <a:spcPts val="1400"/>
              </a:spcBef>
              <a:buSzPct val="80000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023B02AB-1DB6-AF79-E1B3-175C76BE57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27064" y="2377440"/>
            <a:ext cx="4645152" cy="3429000"/>
          </a:xfrm>
          <a:noFill/>
        </p:spPr>
        <p:txBody>
          <a:bodyPr lIns="0" tIns="0" rIns="0" bIns="0">
            <a:normAutofit/>
          </a:bodyPr>
          <a:lstStyle>
            <a:lvl1pPr marL="457200">
              <a:spcBef>
                <a:spcPts val="1400"/>
              </a:spcBef>
              <a:buSzPct val="80000"/>
              <a:defRPr sz="1800"/>
            </a:lvl1pPr>
            <a:lvl2pPr marL="914400">
              <a:buSzPct val="80000"/>
              <a:defRPr sz="1800"/>
            </a:lvl2pPr>
            <a:lvl3pPr marL="1371600">
              <a:buSzPct val="80000"/>
              <a:defRPr sz="1800"/>
            </a:lvl3pPr>
            <a:lvl4pPr marL="1828800">
              <a:buSzPct val="80000"/>
              <a:defRPr sz="1800"/>
            </a:lvl4pPr>
            <a:lvl5pPr marL="2286000">
              <a:buSzPct val="80000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2041A78-2CBE-4D73-EF5D-E65139C79DC2}"/>
              </a:ext>
            </a:extLst>
          </p:cNvPr>
          <p:cNvCxnSpPr>
            <a:cxnSpLocks/>
          </p:cNvCxnSpPr>
          <p:nvPr userDrawn="1"/>
        </p:nvCxnSpPr>
        <p:spPr>
          <a:xfrm>
            <a:off x="1295400" y="822960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12424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A659BA83-0C6E-2A70-AED3-E386CABE65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1097280"/>
            <a:ext cx="9601200" cy="914400"/>
          </a:xfrm>
        </p:spPr>
        <p:txBody>
          <a:bodyPr anchor="t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0CEAFE70-86D3-8690-31CA-F9A1FBA494D0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1280160" y="2377440"/>
            <a:ext cx="9619488" cy="3429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D612406-06E6-DCE4-7F2F-D98836A802A6}"/>
              </a:ext>
            </a:extLst>
          </p:cNvPr>
          <p:cNvCxnSpPr>
            <a:cxnSpLocks/>
          </p:cNvCxnSpPr>
          <p:nvPr userDrawn="1"/>
        </p:nvCxnSpPr>
        <p:spPr>
          <a:xfrm>
            <a:off x="1295400" y="822960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2588937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1097280"/>
            <a:ext cx="9821955" cy="914400"/>
          </a:xfrm>
        </p:spPr>
        <p:txBody>
          <a:bodyPr anchor="t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813049-5F46-053E-6279-8183259649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80160" y="2377440"/>
            <a:ext cx="4663440" cy="3566160"/>
          </a:xfrm>
          <a:solidFill>
            <a:schemeClr val="accent4"/>
          </a:solidFill>
        </p:spPr>
        <p:txBody>
          <a:bodyPr lIns="365760" tIns="365760" rIns="365760" bIns="365760">
            <a:normAutofit/>
          </a:bodyPr>
          <a:lstStyle>
            <a:lvl1pPr marL="457200">
              <a:spcBef>
                <a:spcPts val="1400"/>
              </a:spcBef>
              <a:buClr>
                <a:schemeClr val="tx1"/>
              </a:buClr>
              <a:buSzPct val="80000"/>
              <a:defRPr sz="1800"/>
            </a:lvl1pPr>
            <a:lvl2pPr marL="914400">
              <a:buClr>
                <a:schemeClr val="tx1"/>
              </a:buClr>
              <a:buSzPct val="80000"/>
              <a:defRPr sz="1600"/>
            </a:lvl2pPr>
            <a:lvl3pPr marL="1371600">
              <a:buClr>
                <a:schemeClr val="tx1"/>
              </a:buClr>
              <a:buSzPct val="80000"/>
              <a:defRPr sz="1400"/>
            </a:lvl3pPr>
            <a:lvl4pPr marL="1828800">
              <a:buClr>
                <a:schemeClr val="tx1"/>
              </a:buClr>
              <a:buSzPct val="80000"/>
              <a:defRPr sz="1200"/>
            </a:lvl4pPr>
            <a:lvl5pPr marL="2286000">
              <a:buClr>
                <a:schemeClr val="tx1"/>
              </a:buClr>
              <a:buSzPct val="80000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DFB03A-367B-9ADA-8071-E22871EC11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9360" y="2377440"/>
            <a:ext cx="4663440" cy="3566160"/>
          </a:xfrm>
          <a:solidFill>
            <a:schemeClr val="accent4"/>
          </a:solidFill>
        </p:spPr>
        <p:txBody>
          <a:bodyPr lIns="365760" tIns="365760" rIns="365760" bIns="365760">
            <a:normAutofit/>
          </a:bodyPr>
          <a:lstStyle>
            <a:lvl1pPr marL="457200">
              <a:spcBef>
                <a:spcPts val="1400"/>
              </a:spcBef>
              <a:buClr>
                <a:schemeClr val="tx1"/>
              </a:buClr>
              <a:buSzPct val="80000"/>
              <a:defRPr sz="1800" cap="all" baseline="0"/>
            </a:lvl1pPr>
            <a:lvl2pPr marL="914400">
              <a:buClr>
                <a:schemeClr val="tx1"/>
              </a:buClr>
              <a:buSzPct val="80000"/>
              <a:defRPr sz="1600"/>
            </a:lvl2pPr>
            <a:lvl3pPr marL="1371600">
              <a:buClr>
                <a:schemeClr val="tx1"/>
              </a:buClr>
              <a:buSzPct val="80000"/>
              <a:defRPr sz="1400"/>
            </a:lvl3pPr>
            <a:lvl4pPr marL="1828800">
              <a:buClr>
                <a:schemeClr val="tx1"/>
              </a:buClr>
              <a:buSzPct val="80000"/>
              <a:defRPr sz="1200"/>
            </a:lvl4pPr>
            <a:lvl5pPr marL="2286000">
              <a:buClr>
                <a:schemeClr val="tx1"/>
              </a:buClr>
              <a:buSzPct val="80000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41554B7-BB36-76F6-DD79-11088AA69E82}"/>
              </a:ext>
            </a:extLst>
          </p:cNvPr>
          <p:cNvCxnSpPr>
            <a:cxnSpLocks/>
          </p:cNvCxnSpPr>
          <p:nvPr userDrawn="1"/>
        </p:nvCxnSpPr>
        <p:spPr>
          <a:xfrm>
            <a:off x="1295400" y="822960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533962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5">
            <a:extLst>
              <a:ext uri="{FF2B5EF4-FFF2-40B4-BE49-F238E27FC236}">
                <a16:creationId xmlns:a16="http://schemas.microsoft.com/office/drawing/2014/main" id="{ABAFD431-F46D-3701-6A51-738ADAF3A5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3163824"/>
            <a:ext cx="10515600" cy="2322576"/>
          </a:xfrm>
          <a:prstGeom prst="rect">
            <a:avLst/>
          </a:prstGeom>
          <a:noFill/>
        </p:spPr>
        <p:txBody>
          <a:bodyPr wrap="square" bIns="0" anchor="ctr">
            <a:no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CAFD788D-D699-2BA7-3637-AA3B48C0908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953000" y="548640"/>
            <a:ext cx="2286000" cy="2286000"/>
          </a:xfrm>
          <a:prstGeom prst="ellipse">
            <a:avLst/>
          </a:prstGeom>
        </p:spPr>
        <p:txBody>
          <a:bodyPr anchor="t"/>
          <a:lstStyle>
            <a:lvl1pPr marL="0" indent="0" algn="ctr">
              <a:buNone/>
              <a:defRPr sz="105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7808A0C0-A02B-D1C7-6DE5-CA25624AD09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572768" y="6044184"/>
            <a:ext cx="9116568" cy="365760"/>
          </a:xfrm>
        </p:spPr>
        <p:txBody>
          <a:bodyPr anchor="t"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2400" cap="all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ECE7D81-1954-1B1F-C0AC-21C85AFD3C1E}"/>
              </a:ext>
            </a:extLst>
          </p:cNvPr>
          <p:cNvSpPr/>
          <p:nvPr userDrawn="1"/>
        </p:nvSpPr>
        <p:spPr>
          <a:xfrm>
            <a:off x="5891213" y="5628222"/>
            <a:ext cx="409575" cy="883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91105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98F9AA-2C87-421D-97C1-B4248DFDC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609600"/>
            <a:ext cx="9821955" cy="125611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98FC63-C8D2-4CE6-A3F1-EE8ED24590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95400" y="1855945"/>
            <a:ext cx="9821955" cy="435133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78A08F60-CEF1-832D-D403-282EA76CBE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20624" y="6019801"/>
            <a:ext cx="457200" cy="1841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200" cap="all" spc="200" baseline="0">
                <a:solidFill>
                  <a:schemeClr val="accent1"/>
                </a:solidFill>
                <a:latin typeface="Posterama" panose="020B0504020200020000" pitchFamily="34" charset="0"/>
              </a:defRPr>
            </a:lvl1pPr>
          </a:lstStyle>
          <a:p>
            <a:fld id="{75DF2D63-3FF5-D547-96B9-BE9CCD1ABA5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8353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74" r:id="rId3"/>
    <p:sldLayoutId id="2147483675" r:id="rId4"/>
    <p:sldLayoutId id="2147483664" r:id="rId5"/>
    <p:sldLayoutId id="2147483676" r:id="rId6"/>
    <p:sldLayoutId id="2147483677" r:id="rId7"/>
    <p:sldLayoutId id="2147483681" r:id="rId8"/>
    <p:sldLayoutId id="2147483682" r:id="rId9"/>
    <p:sldLayoutId id="2147483683" r:id="rId10"/>
    <p:sldLayoutId id="2147483680" r:id="rId11"/>
    <p:sldLayoutId id="2147483684" r:id="rId12"/>
    <p:sldLayoutId id="2147483673" r:id="rId13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kern="1200" cap="all" spc="300" baseline="0">
          <a:solidFill>
            <a:schemeClr val="tx1"/>
          </a:solidFill>
          <a:latin typeface="+mj-lt"/>
          <a:ea typeface="+mj-ea"/>
          <a:cs typeface="Posterama" panose="020B0504020200020000" pitchFamily="34" charset="0"/>
        </a:defRPr>
      </a:lvl1pPr>
    </p:titleStyle>
    <p:bodyStyle>
      <a:lvl1pPr marL="228600" indent="-4572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1"/>
        </a:buClr>
        <a:buFont typeface="Courier New" panose="02070309020205020404" pitchFamily="49" charset="0"/>
        <a:buChar char="o"/>
        <a:defRPr sz="2400" b="0" i="0" kern="1200" cap="none" baseline="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4572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Courier New" panose="02070309020205020404" pitchFamily="49" charset="0"/>
        <a:buChar char="o"/>
        <a:defRPr sz="2000" b="0" i="0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4572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Courier New" panose="02070309020205020404" pitchFamily="49" charset="0"/>
        <a:buChar char="o"/>
        <a:defRPr sz="1800" b="0" i="0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4572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Courier New" panose="02070309020205020404" pitchFamily="49" charset="0"/>
        <a:buChar char="o"/>
        <a:defRPr sz="1600" b="0" i="0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4572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Courier New" panose="02070309020205020404" pitchFamily="49" charset="0"/>
        <a:buChar char="o"/>
        <a:defRPr sz="1400" b="0" i="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240">
          <p15:clr>
            <a:srgbClr val="547EBF"/>
          </p15:clr>
        </p15:guide>
        <p15:guide id="4" orient="horz" pos="240">
          <p15:clr>
            <a:srgbClr val="547EBF"/>
          </p15:clr>
        </p15:guide>
        <p15:guide id="5" pos="7440">
          <p15:clr>
            <a:srgbClr val="547EBF"/>
          </p15:clr>
        </p15:guide>
        <p15:guide id="6" orient="horz" pos="4080">
          <p15:clr>
            <a:srgbClr val="547EBF"/>
          </p15:clr>
        </p15:guide>
        <p15:guide id="7" pos="3960">
          <p15:clr>
            <a:srgbClr val="547EBF"/>
          </p15:clr>
        </p15:guide>
        <p15:guide id="8" pos="3720">
          <p15:clr>
            <a:srgbClr val="547EBF"/>
          </p15:clr>
        </p15:guide>
        <p15:guide id="9" pos="2112">
          <p15:clr>
            <a:srgbClr val="547EBF"/>
          </p15:clr>
        </p15:guide>
        <p15:guide id="10" pos="1848">
          <p15:clr>
            <a:srgbClr val="547EBF"/>
          </p15:clr>
        </p15:guide>
        <p15:guide id="11" pos="5568">
          <p15:clr>
            <a:srgbClr val="547EBF"/>
          </p15:clr>
        </p15:guide>
        <p15:guide id="12" pos="5832">
          <p15:clr>
            <a:srgbClr val="547EBF"/>
          </p15:clr>
        </p15:guide>
        <p15:guide id="13" pos="4968">
          <p15:clr>
            <a:srgbClr val="9FCC3B"/>
          </p15:clr>
        </p15:guide>
        <p15:guide id="14" pos="5208">
          <p15:clr>
            <a:srgbClr val="9FCC3B"/>
          </p15:clr>
        </p15:guide>
        <p15:guide id="15" pos="2712">
          <p15:clr>
            <a:srgbClr val="9FCC3B"/>
          </p15:clr>
        </p15:guide>
        <p15:guide id="16" pos="2472">
          <p15:clr>
            <a:srgbClr val="9FCC3B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05E10E9-9AB7-0642-D4C4-DDFDAB7B5B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17320"/>
            <a:ext cx="10515600" cy="4023360"/>
          </a:xfrm>
        </p:spPr>
        <p:txBody>
          <a:bodyPr/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Urban Pulse – Smart City Mobility Intelligence Platform</a:t>
            </a:r>
            <a:b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Infosys Springboard Internship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ubtitle 1">
            <a:extLst>
              <a:ext uri="{FF2B5EF4-FFF2-40B4-BE49-F238E27FC236}">
                <a16:creationId xmlns:a16="http://schemas.microsoft.com/office/drawing/2014/main" id="{A1307D8B-2864-21B6-1CE1-B605F29281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733746" y="4836195"/>
            <a:ext cx="3285534" cy="355565"/>
          </a:xfrm>
        </p:spPr>
        <p:txBody>
          <a:bodyPr vert="horz" lIns="0" tIns="0" rIns="0" bIns="0" rtlCol="0" anchor="t">
            <a:no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200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RITU SUNAGAR  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200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r. Jaswanth </a:t>
            </a:r>
            <a:r>
              <a:rPr lang="en-US" sz="1200" b="1" i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kumar</a:t>
            </a:r>
            <a:r>
              <a:rPr lang="en-US" sz="1200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200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1200" b="1" i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unatti</a:t>
            </a:r>
            <a:r>
              <a:rPr lang="en-US" sz="1200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200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MADHURI </a:t>
            </a:r>
          </a:p>
          <a:p>
            <a:endParaRPr lang="en-US" b="1" i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52154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3EB422-1287-FCEB-63CE-599FDC8468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41173" y="579487"/>
            <a:ext cx="4114800" cy="456098"/>
          </a:xfrm>
        </p:spPr>
        <p:txBody>
          <a:bodyPr/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038CD2-9585-7E51-5359-D52935A77D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5754" y="1151264"/>
            <a:ext cx="9882130" cy="5706736"/>
          </a:xfrm>
        </p:spPr>
        <p:txBody>
          <a:bodyPr vert="horz" lIns="0" tIns="0" rIns="0" bIns="0" rtlCol="0" anchor="t">
            <a:noAutofit/>
          </a:bodyPr>
          <a:lstStyle/>
          <a:p>
            <a:r>
              <a:rPr lang="en-IN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Urban Pulse?</a:t>
            </a:r>
          </a:p>
          <a:p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Urban Pulse is a </a:t>
            </a:r>
            <a:r>
              <a:rPr lang="en-IN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 BI-based mobility intelligence platform</a:t>
            </a: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</a:t>
            </a:r>
            <a:r>
              <a:rPr lang="en-IN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analyzes</a:t>
            </a: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transportation and ride-hailing data to understand:</a:t>
            </a:r>
          </a:p>
          <a:p>
            <a:pPr lvl="0"/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Travel and booking patterns </a:t>
            </a:r>
          </a:p>
          <a:p>
            <a:pPr lvl="0"/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Revenue and trip performance </a:t>
            </a:r>
          </a:p>
          <a:p>
            <a:pPr lvl="0"/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Waiting time and customer experience </a:t>
            </a:r>
          </a:p>
          <a:p>
            <a:pPr lvl="0"/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Mobility accessibility across locations </a:t>
            </a:r>
          </a:p>
          <a:p>
            <a:pPr lvl="0"/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Demand patterns </a:t>
            </a:r>
          </a:p>
          <a:p>
            <a:pPr lvl="0"/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demand and unusual/anomalous activity </a:t>
            </a:r>
          </a:p>
          <a:p>
            <a:r>
              <a:rPr lang="en-IN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 Aim</a:t>
            </a:r>
          </a:p>
          <a:p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convert raw mobility data into meaningful insights that can support </a:t>
            </a:r>
            <a:r>
              <a:rPr lang="en-IN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better transportation planning, accessibility and operational decisions.</a:t>
            </a:r>
            <a:endParaRPr lang="en-IN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Questions</a:t>
            </a:r>
          </a:p>
          <a:p>
            <a:pPr lvl="0"/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and where is demand high? </a:t>
            </a:r>
          </a:p>
          <a:p>
            <a:pPr lvl="0"/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efficiently are trips being completed? </a:t>
            </a:r>
          </a:p>
          <a:p>
            <a:pPr lvl="0"/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locations have better mobility access? </a:t>
            </a:r>
          </a:p>
          <a:p>
            <a:pPr lvl="0"/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affects customer waiting time? </a:t>
            </a:r>
          </a:p>
          <a:p>
            <a:pPr lvl="0"/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demand patterns can help in future planning?</a:t>
            </a:r>
          </a:p>
          <a:p>
            <a:endParaRPr lang="en-IN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08664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D2C81E2A-91E2-4A63-6123-CB9809E5536E}"/>
              </a:ext>
            </a:extLst>
          </p:cNvPr>
          <p:cNvSpPr txBox="1"/>
          <p:nvPr/>
        </p:nvSpPr>
        <p:spPr>
          <a:xfrm>
            <a:off x="1377108" y="176270"/>
            <a:ext cx="40982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Collection &amp; Dataset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C09CFAC-521A-6BFC-9ADD-948E6714A956}"/>
              </a:ext>
            </a:extLst>
          </p:cNvPr>
          <p:cNvSpPr txBox="1"/>
          <p:nvPr/>
        </p:nvSpPr>
        <p:spPr>
          <a:xfrm>
            <a:off x="478971" y="805543"/>
            <a:ext cx="11223172" cy="5324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Used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uses structured mobility/ride-hailing data containing information such as: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Booking ID 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Date &amp; Time 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Booking Status 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Vehicle Type 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Pickup Location 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Ride Revenue / Booking Value 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Waiting Time 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Trip Distance 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information 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Cancellation reasons 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Events 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Weather-related information where available 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Flow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Raw Dataset → Power BI → Transformation → Data Model → Measures → Visualizations → Insights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80855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8D639D7-7814-4FF4-1338-E690B99B0672}"/>
              </a:ext>
            </a:extLst>
          </p:cNvPr>
          <p:cNvSpPr txBox="1"/>
          <p:nvPr/>
        </p:nvSpPr>
        <p:spPr>
          <a:xfrm>
            <a:off x="142240" y="1544320"/>
            <a:ext cx="5080000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ETL &amp; Data Preprocessing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Extract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imported the raw dataset from Excel into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 BI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Transform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Power Query, we: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Removed unnecessary columns 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Removed/handled duplicate records 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Checked missing values 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Corrected data types 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Standardized date and time fields 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Cleaned categorical values 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Created useful derived columns 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BA227F2-2D19-3166-145E-75ADB5942D29}"/>
              </a:ext>
            </a:extLst>
          </p:cNvPr>
          <p:cNvSpPr txBox="1"/>
          <p:nvPr/>
        </p:nvSpPr>
        <p:spPr>
          <a:xfrm>
            <a:off x="5659120" y="1280160"/>
            <a:ext cx="5791200" cy="5324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Load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cleaned data was loaded into Power BI for: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</a:t>
            </a:r>
            <a:r>
              <a:rPr lang="en-I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modeling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DAX calculations → Visualization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Derived columns created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Examples: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Month 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Month Name 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Quarter 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Year 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Week Number 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Weekday 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Slot 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Day Type — Weekday/Weekend 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Peak Hour 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Access Category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AE6125A-F08B-E7C3-FD23-6581481CE074}"/>
              </a:ext>
            </a:extLst>
          </p:cNvPr>
          <p:cNvSpPr txBox="1"/>
          <p:nvPr/>
        </p:nvSpPr>
        <p:spPr>
          <a:xfrm>
            <a:off x="1625600" y="304800"/>
            <a:ext cx="573024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ETL &amp; Data Preprocessing</a:t>
            </a:r>
          </a:p>
          <a:p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53614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A118499A-8D48-17D5-2121-A70A163E7372}"/>
              </a:ext>
            </a:extLst>
          </p:cNvPr>
          <p:cNvSpPr txBox="1"/>
          <p:nvPr/>
        </p:nvSpPr>
        <p:spPr>
          <a:xfrm>
            <a:off x="2386988" y="0"/>
            <a:ext cx="51558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</a:t>
            </a: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Modeling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&amp; Star Schema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2ED6428-F30F-0835-C95F-5D5A37D243DA}"/>
              </a:ext>
            </a:extLst>
          </p:cNvPr>
          <p:cNvSpPr txBox="1"/>
          <p:nvPr/>
        </p:nvSpPr>
        <p:spPr>
          <a:xfrm>
            <a:off x="365760" y="701040"/>
            <a:ext cx="564896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Star Schema?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Instead of keeping everything in one large table, the data can be organized into: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Fact Table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Contains measurable transaction information: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Booking ID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Revenue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Waiting Time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Trip Distance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Booking Status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Date Key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Location Key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Vehicle Key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Key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Event Key 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93C4387-1AD5-03A0-996E-560C917CBE4F}"/>
              </a:ext>
            </a:extLst>
          </p:cNvPr>
          <p:cNvSpPr txBox="1"/>
          <p:nvPr/>
        </p:nvSpPr>
        <p:spPr>
          <a:xfrm>
            <a:off x="6593840" y="619760"/>
            <a:ext cx="5598160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Dimension Tables</a:t>
            </a:r>
          </a:p>
          <a:p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DimDate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Date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Month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Quarter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Year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Weekday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Week Number </a:t>
            </a:r>
          </a:p>
          <a:p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DimVehicle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Vehicle Type </a:t>
            </a:r>
          </a:p>
          <a:p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DimLocation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Pickup Location </a:t>
            </a:r>
          </a:p>
          <a:p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DimCustomer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ID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Rating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Gender </a:t>
            </a:r>
          </a:p>
          <a:p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DimEvent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Event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Event Type </a:t>
            </a:r>
          </a:p>
          <a:p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DimBookingStatus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Booking Status 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024BA1F-F785-6884-B3D0-A8A37F90F610}"/>
              </a:ext>
            </a:extLst>
          </p:cNvPr>
          <p:cNvSpPr txBox="1"/>
          <p:nvPr/>
        </p:nvSpPr>
        <p:spPr>
          <a:xfrm>
            <a:off x="345440" y="5273040"/>
            <a:ext cx="540512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Simple explanation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fact table stores the actual trip transactions, while dimension tables provide descriptive information used to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those transactions.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80375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60E3FB3-5003-38F9-244A-0D93F7FC40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5122" y="381000"/>
            <a:ext cx="10241280" cy="163286"/>
          </a:xfrm>
        </p:spPr>
        <p:txBody>
          <a:bodyPr/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RIDE HAILING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E814CEA-1D9B-6412-066E-4A7DD0595226}"/>
              </a:ext>
            </a:extLst>
          </p:cNvPr>
          <p:cNvSpPr txBox="1"/>
          <p:nvPr/>
        </p:nvSpPr>
        <p:spPr>
          <a:xfrm>
            <a:off x="1403531" y="1663337"/>
            <a:ext cx="2894149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1: Ride-Hailing Analysis</a:t>
            </a:r>
          </a:p>
          <a:p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trips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revenue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fare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Trip distance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Trip duration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Vehicle type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Pickup locations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slots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Events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Booking status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3030EF4-7DCB-5E8D-C56D-79FBBD67CA4B}"/>
              </a:ext>
            </a:extLst>
          </p:cNvPr>
          <p:cNvSpPr txBox="1"/>
          <p:nvPr/>
        </p:nvSpPr>
        <p:spPr>
          <a:xfrm>
            <a:off x="4856480" y="1686560"/>
            <a:ext cx="7071360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charts &amp; questions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Trips by Day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does booking demand change over time?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Revenue by Month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months generate higher revenue?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Revenue by Vehicle Type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vehicle types contribute more to revenue?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Bookings by Time Slot &amp; Status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are bookings and cancellations concentrated?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Bookings by Event &amp; Vehicle Type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 events influence transportation demand?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Real-life use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ride-hailing operators understand demand, revenue and vehicle utilization.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51953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F72BF6-9DBD-DFC2-49EF-9CE7B68B87E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DB180C-8F57-8BF2-68D6-B20F203A7EF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0900892-5274-DC6C-54E2-84A7A3FDA8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659" y="0"/>
            <a:ext cx="1165268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43070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9B7A23D-40F4-B450-0073-9E96DCE4F3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83920" y="853440"/>
            <a:ext cx="8249920" cy="5222240"/>
          </a:xfrm>
        </p:spPr>
        <p:txBody>
          <a:bodyPr/>
          <a:lstStyle/>
          <a:p>
            <a:pPr algn="l"/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 focus:</a:t>
            </a:r>
          </a:p>
          <a:p>
            <a:pPr algn="l"/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Understanding public transportation usage across routes, vehicles, locations and environmental conditions.</a:t>
            </a:r>
          </a:p>
          <a:p>
            <a:pPr algn="l"/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Charts answer questions such as:</a:t>
            </a:r>
          </a:p>
          <a:p>
            <a:pPr algn="l"/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Passengers by Vehicle Type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transportation mode carries more passengers?</a:t>
            </a:r>
          </a:p>
          <a:p>
            <a:pPr algn="l"/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Trips by Route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routes have higher usage?</a:t>
            </a:r>
          </a:p>
          <a:p>
            <a:pPr algn="l"/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Passengers by Date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does transportation usage change over time?</a:t>
            </a:r>
          </a:p>
          <a:p>
            <a:pPr algn="l"/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Distance &amp; Fare by Route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routes involve greater distance and fare?</a:t>
            </a:r>
          </a:p>
          <a:p>
            <a:pPr algn="l"/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Temperature / Wind Speed vs Trips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there any observable relationship between environmental conditions and mobility usage?</a:t>
            </a:r>
          </a:p>
          <a:p>
            <a:pPr algn="l"/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Real-life insight</a:t>
            </a:r>
          </a:p>
          <a:p>
            <a:pPr algn="l"/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can help transportation planners understand route utilization and resource requirements.</a:t>
            </a:r>
          </a:p>
          <a:p>
            <a:pPr algn="l"/>
            <a:endParaRPr lang="en-IN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9A19D5F-CE8B-93DF-CAD3-6DD12B7D53BE}"/>
              </a:ext>
            </a:extLst>
          </p:cNvPr>
          <p:cNvSpPr txBox="1"/>
          <p:nvPr/>
        </p:nvSpPr>
        <p:spPr>
          <a:xfrm>
            <a:off x="4643120" y="180945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Mobility Dashboard Analysis</a:t>
            </a:r>
          </a:p>
        </p:txBody>
      </p:sp>
    </p:spTree>
    <p:extLst>
      <p:ext uri="{BB962C8B-B14F-4D97-AF65-F5344CB8AC3E}">
        <p14:creationId xmlns:p14="http://schemas.microsoft.com/office/powerpoint/2010/main" val="41390900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760F76-BD53-EAF4-AC82-26FF159BF43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1430A6E-5B62-B895-3DFD-A5563E95DAB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3701539-89F7-B596-876F-7C1D80D99E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560" y="162560"/>
            <a:ext cx="11856720" cy="660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98596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2B6C0E4-4B4C-A4B0-88DE-4246B190D3E5}"/>
              </a:ext>
            </a:extLst>
          </p:cNvPr>
          <p:cNvSpPr txBox="1"/>
          <p:nvPr/>
        </p:nvSpPr>
        <p:spPr>
          <a:xfrm>
            <a:off x="1595120" y="213360"/>
            <a:ext cx="76403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Geographic Mobility Analysis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16935CD-ABD9-2E22-128A-45D4FFBC679A}"/>
              </a:ext>
            </a:extLst>
          </p:cNvPr>
          <p:cNvSpPr txBox="1"/>
          <p:nvPr/>
        </p:nvSpPr>
        <p:spPr>
          <a:xfrm>
            <a:off x="182880" y="904240"/>
            <a:ext cx="1177544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Objective: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how ride demand is distributed across different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pickup locations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how vehicle usage varies by location.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Visuals &amp; Purpose</a:t>
            </a:r>
          </a:p>
          <a:p>
            <a:pPr lvl="0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Trips by Pickup Location — Map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Shows the geographic distribution of trips across Delhi/NCR and identifies areas with higher activity. </a:t>
            </a:r>
          </a:p>
          <a:p>
            <a:pPr lvl="0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Trips by Pickup Location — Bar Chart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Compares the most active pickup locations based on total trips. </a:t>
            </a:r>
          </a:p>
          <a:p>
            <a:pPr lvl="0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Vehicle Type &amp; Pickup Location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Shows how different vehicle types contribute to trips across pickup locations. </a:t>
            </a:r>
          </a:p>
          <a:p>
            <a:pPr lvl="0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Pickup Location Table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detailed location-level booking information, including booking status. </a:t>
            </a:r>
          </a:p>
          <a:p>
            <a:pPr lvl="0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Location Hierarchy / Drill-down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Allows individual pickup locations to be explored in greater detail. 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Insight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Ride demand is concentrated in specific Delhi/NCR pickup areas, while the preferred vehicle type varies across locations.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79909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CA7F63D4-D0FC-CBBB-2FED-200ABF58676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D244DAC-2FF0-3EDF-B338-40022F1DDCF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9CEFC3B-A0A1-D20D-EB1E-9DCFB30539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720" y="132080"/>
            <a:ext cx="11938000" cy="6573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66720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006CE65-0465-6727-A404-B8ADCF88DAFE}"/>
              </a:ext>
            </a:extLst>
          </p:cNvPr>
          <p:cNvSpPr txBox="1"/>
          <p:nvPr/>
        </p:nvSpPr>
        <p:spPr>
          <a:xfrm>
            <a:off x="4484914" y="174563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Mobility-Equity Dashboard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06651BE-4F4B-C6B7-6EC2-46971F9D92A6}"/>
              </a:ext>
            </a:extLst>
          </p:cNvPr>
          <p:cNvSpPr txBox="1"/>
          <p:nvPr/>
        </p:nvSpPr>
        <p:spPr>
          <a:xfrm>
            <a:off x="217713" y="1230085"/>
            <a:ext cx="5791201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 focus: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Accessibility + operational performance + customer experience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KPI Cards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Trips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Completed Trips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Waiting Time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Ride Revenue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Mobility Access Index 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Charts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Revenue by Month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does revenue change over time?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Trips by Booking Status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many trips are completed, cancelled or incomplete?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Revenue by Event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events are associated with changes in revenue?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Mobility Access Index by Location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locations have relatively better or lower mobility access?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143D24D-0C9D-5AB9-48EB-B0A846347686}"/>
              </a:ext>
            </a:extLst>
          </p:cNvPr>
          <p:cNvSpPr txBox="1"/>
          <p:nvPr/>
        </p:nvSpPr>
        <p:spPr>
          <a:xfrm>
            <a:off x="6716487" y="1513114"/>
            <a:ext cx="5236029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Waiting Time by Time Slot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During which periods do customers wait longer?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Waiting Time by Vehicle Type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vehicle types have higher/lower waiting times?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Cancellation Reasons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are customers cancelling rides?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Real-life importance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insights help identify areas where transportation service quality and accessibility may need improvement.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82284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91354AF8-A5EE-5B3D-3A8D-B0B7E310B13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B25BD47-0B5E-8449-B4BD-74691FB9863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83868FB-D757-409A-CE57-CE9A9713FF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057" y="119742"/>
            <a:ext cx="11821885" cy="6607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65846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45846C09-7479-2B75-FAB4-A5FC7141D37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E43833E-4DE3-3EE5-DC55-920CB869F6B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BAC134C-571C-3E24-006C-A8577F928E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143" y="130628"/>
            <a:ext cx="11778344" cy="6648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87625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164DCEA-FC4D-E610-72F9-0D8D53B0A009}"/>
              </a:ext>
            </a:extLst>
          </p:cNvPr>
          <p:cNvSpPr txBox="1"/>
          <p:nvPr/>
        </p:nvSpPr>
        <p:spPr>
          <a:xfrm>
            <a:off x="1036320" y="436880"/>
            <a:ext cx="81381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Seasonal Demand Dashboard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AC10C17-6432-C178-8CDA-481F512BD6C0}"/>
              </a:ext>
            </a:extLst>
          </p:cNvPr>
          <p:cNvSpPr txBox="1"/>
          <p:nvPr/>
        </p:nvSpPr>
        <p:spPr>
          <a:xfrm>
            <a:off x="751840" y="1168400"/>
            <a:ext cx="9398000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Analyse how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events, seasons, vehicle types and time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affect mobility demand, revenue and cancellations.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Insights</a:t>
            </a:r>
          </a:p>
          <a:p>
            <a:pPr lvl="0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Revenue by Event: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Normal days contribute major revenue; Auto and Go Mini are strong contributors. </a:t>
            </a:r>
          </a:p>
          <a:p>
            <a:pPr lvl="0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Booking Value vs Distance: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Longer rides generally generate higher booking values. </a:t>
            </a:r>
          </a:p>
          <a:p>
            <a:pPr lvl="0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Vehicle Usage: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Vehicle preference changes across different events. </a:t>
            </a:r>
          </a:p>
          <a:p>
            <a:pPr lvl="0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Daily Revenue: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Revenue fluctuates, with certain event days showing peaks. </a:t>
            </a:r>
          </a:p>
          <a:p>
            <a:pPr lvl="0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Cancellation Rate: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Diwali has the highest cancellation rate. </a:t>
            </a:r>
          </a:p>
          <a:p>
            <a:pPr lvl="0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Slots: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Demand varies by time, helping identify periods needing more vehicles. 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Seasonal and event patterns help in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fleet planning, driver allocation and managing peak demand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35392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D3726B1B-457C-FB5C-8A17-207EFE78BB7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5AEAFCE-C1AB-4EC1-63DC-5272CC637BC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F31843A-8077-BBCA-0FDA-E6631DE6E3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080" y="225942"/>
            <a:ext cx="11521440" cy="6632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01274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C093E39-5FE0-7D82-3718-7CDF597860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7048" y="124097"/>
            <a:ext cx="8229600" cy="833846"/>
          </a:xfrm>
        </p:spPr>
        <p:txBody>
          <a:bodyPr/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FORECAST AND ANAOMALY DETECTION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CC90E51-05EB-1B3D-8038-46241A2278B9}"/>
              </a:ext>
            </a:extLst>
          </p:cNvPr>
          <p:cNvSpPr txBox="1"/>
          <p:nvPr/>
        </p:nvSpPr>
        <p:spPr>
          <a:xfrm>
            <a:off x="598714" y="903514"/>
            <a:ext cx="10613571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dashboard compares: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Historical/Actual Demand vs Forecast Demand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helps answer: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"What level of demand can we expect in the future?"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Anomaly Detection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dashboard identifies unusual demand patterns that differ significantly from the normal pattern.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helps answer: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"Where are demand patterns behaving unusually?"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Other useful analysis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Demand by Hour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Identifies high-demand hours.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Demand by Time Slot &amp; Booking Status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Shows when demand and booking outcomes are concentrated.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Demand by Day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compare demand across weekdays and weekends.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27988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933D151C-20B6-93DA-1645-34876EF8007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FEA44E1-DCCD-CE83-6C0F-D08373A59D8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2362201-A8FA-69B8-B464-B850FD58AA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347" y="119743"/>
            <a:ext cx="11885139" cy="6643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25265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7273DB2-8EC8-B6AD-702F-4D41757272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02429" y="113210"/>
            <a:ext cx="5870448" cy="790304"/>
          </a:xfrm>
        </p:spPr>
        <p:txBody>
          <a:bodyPr/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Insights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5BCB43D-9E70-51A8-7EEF-9C9A69A79ACC}"/>
              </a:ext>
            </a:extLst>
          </p:cNvPr>
          <p:cNvSpPr txBox="1"/>
          <p:nvPr/>
        </p:nvSpPr>
        <p:spPr>
          <a:xfrm>
            <a:off x="1001486" y="762000"/>
            <a:ext cx="10951028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Insights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Demand varies by time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 time slots and hours show different levels of transportation demand.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Operational performance varies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Completion rates and waiting times help identify differences in service performance.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Accessibility differs by location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Mobility Access Index allows locations to be compared using both completion and waiting-time performance.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Vehicle and route patterns matter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 vehicle types and routes contribute differently to trips, passengers and revenue.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Weekday vs Weekend </a:t>
            </a: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behavior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differs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analysis shows that travel demand is not distributed equally across day types, helping planners understand different usage patterns.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Forecasting supports future planning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Historical demand patterns can be used to estimate future transportation requirements.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 Anomalies highlight unusual </a:t>
            </a: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behavior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Unusual demand patterns can be investigated instead of relying only on overall averages.</a:t>
            </a:r>
          </a:p>
          <a:p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257227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3A7D296-CA50-D9B5-3CA8-753F2EE969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7448" y="145869"/>
            <a:ext cx="8229600" cy="877389"/>
          </a:xfrm>
        </p:spPr>
        <p:txBody>
          <a:bodyPr/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2B9B172-F275-0511-7C24-379A3CD7B786}"/>
              </a:ext>
            </a:extLst>
          </p:cNvPr>
          <p:cNvSpPr txBox="1"/>
          <p:nvPr/>
        </p:nvSpPr>
        <p:spPr>
          <a:xfrm>
            <a:off x="892629" y="1699068"/>
            <a:ext cx="9710057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Conclusion</a:t>
            </a:r>
          </a:p>
          <a:p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Urban Pulse transforms raw mobility data into an interactive decision-support platform.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combining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preprocessing, star-schema </a:t>
            </a:r>
            <a:r>
              <a:rPr lang="en-IN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modeling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DAX measures, dashboards, accessibility analysis, forecasting and anomaly detection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the project provides a broader understanding of:</a:t>
            </a:r>
          </a:p>
          <a:p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Demand → Operations → Revenue → Accessibility → Customer Experience → Future Planning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line for presentation:</a:t>
            </a:r>
          </a:p>
          <a:p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"Our project moves from simply understanding what happened in mobility data to understanding why it happened and how the information can support better future transportation planning."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993752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3E39FA-84F2-3624-49D6-32B9E0363C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3163824"/>
            <a:ext cx="10515600" cy="2322576"/>
          </a:xfrm>
          <a:noFill/>
        </p:spPr>
        <p:txBody>
          <a:bodyPr bIns="0" anchor="ctr" anchorCtr="0"/>
          <a:lstStyle/>
          <a:p>
            <a:r>
              <a:rPr lang="en-US" dirty="0"/>
              <a:t>Thank you</a:t>
            </a:r>
          </a:p>
        </p:txBody>
      </p:sp>
      <p:pic>
        <p:nvPicPr>
          <p:cNvPr id="7" name="Picture Placeholder 25" descr="Bacteria cultured in a petri dish for a laboratory or a scientific investigation">
            <a:extLst>
              <a:ext uri="{FF2B5EF4-FFF2-40B4-BE49-F238E27FC236}">
                <a16:creationId xmlns:a16="http://schemas.microsoft.com/office/drawing/2014/main" id="{F46DA087-2662-0725-53F9-CF835D1DC8F1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" r="74"/>
          <a:stretch/>
        </p:blipFill>
        <p:spPr>
          <a:xfrm>
            <a:off x="4953000" y="548640"/>
            <a:ext cx="2286000" cy="2286000"/>
          </a:xfrm>
        </p:spPr>
      </p:pic>
    </p:spTree>
    <p:extLst>
      <p:ext uri="{BB962C8B-B14F-4D97-AF65-F5344CB8AC3E}">
        <p14:creationId xmlns:p14="http://schemas.microsoft.com/office/powerpoint/2010/main" val="487522735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Scientific Discovery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96D3ED"/>
      </a:accent1>
      <a:accent2>
        <a:srgbClr val="C7DBE1"/>
      </a:accent2>
      <a:accent3>
        <a:srgbClr val="688EBD"/>
      </a:accent3>
      <a:accent4>
        <a:srgbClr val="BCE5DD"/>
      </a:accent4>
      <a:accent5>
        <a:srgbClr val="66DDCC"/>
      </a:accent5>
      <a:accent6>
        <a:srgbClr val="E0CE61"/>
      </a:accent6>
      <a:hlink>
        <a:srgbClr val="0563C1"/>
      </a:hlink>
      <a:folHlink>
        <a:srgbClr val="954F72"/>
      </a:folHlink>
    </a:clrScheme>
    <a:fontScheme name="Custom 36">
      <a:majorFont>
        <a:latin typeface="Posterama"/>
        <a:ea typeface=""/>
        <a:cs typeface=""/>
      </a:majorFont>
      <a:minorFont>
        <a:latin typeface="Daytona Condensed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cientific discovery_V1_win32_EF_v4.potx" id="{C76E1CB0-558D-4FB9-AA8B-DAB0BFDB970A}" vid="{87D4F3E9-C3BB-413B-A87E-0B7BB674A5C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9A734A7-6096-47AA-9737-CDF62701A00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881D8D6-8849-400B-8BC9-21D401C7DD0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DF8397A0-8C35-4EEE-8E61-47C914415B57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{F0B1E834-EB6A-4B7B-A914-D04A54BF51B9}TF51de1e5f-e0e8-4dd0-99f3-5b7584f7abdc7d30e886_win32-78d4aef5ad8e</Template>
  <TotalTime>211</TotalTime>
  <Words>1338</Words>
  <Application>Microsoft Office PowerPoint</Application>
  <PresentationFormat>Widescreen</PresentationFormat>
  <Paragraphs>236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8" baseType="lpstr">
      <vt:lpstr>Arial</vt:lpstr>
      <vt:lpstr>Calibri</vt:lpstr>
      <vt:lpstr>Courier New</vt:lpstr>
      <vt:lpstr>Daytona Condensed Light</vt:lpstr>
      <vt:lpstr>Posterama</vt:lpstr>
      <vt:lpstr>Times New Roman</vt:lpstr>
      <vt:lpstr>Custom</vt:lpstr>
      <vt:lpstr>Urban Pulse – Smart City Mobility Intelligence Platform Infosys Springboard Internship </vt:lpstr>
      <vt:lpstr>Objective</vt:lpstr>
      <vt:lpstr>PowerPoint Presentation</vt:lpstr>
      <vt:lpstr>PowerPoint Presentation</vt:lpstr>
      <vt:lpstr>PowerPoint Presentation</vt:lpstr>
      <vt:lpstr>RIDE HAILING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FORECAST AND ANAOMALY DETECTION</vt:lpstr>
      <vt:lpstr>PowerPoint Presentation</vt:lpstr>
      <vt:lpstr>Key Insights </vt:lpstr>
      <vt:lpstr>conclusion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Ritu Sunagar</dc:creator>
  <cp:lastModifiedBy>Ritu Sunagar</cp:lastModifiedBy>
  <cp:revision>5</cp:revision>
  <dcterms:created xsi:type="dcterms:W3CDTF">2026-07-24T12:09:25Z</dcterms:created>
  <dcterms:modified xsi:type="dcterms:W3CDTF">2026-08-26T10:28:44Z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